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8" r:id="rId9"/>
    <p:sldId id="267" r:id="rId10"/>
    <p:sldId id="261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2"/>
  </p:normalViewPr>
  <p:slideViewPr>
    <p:cSldViewPr snapToGrid="0" snapToObjects="1">
      <p:cViewPr>
        <p:scale>
          <a:sx n="108" d="100"/>
          <a:sy n="108" d="100"/>
        </p:scale>
        <p:origin x="76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4745736" cy="6858000"/>
          </a:xfrm>
          <a:prstGeom prst="rect">
            <a:avLst/>
          </a:prstGeom>
          <a:solidFill>
            <a:srgbClr val="08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52360" y="0"/>
            <a:ext cx="12700" cy="685800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6400800" cy="1639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E8B44A"/>
                </a:solidFill>
                <a:latin typeface="Menlo"/>
              </a:rPr>
              <a:t>DBMS · PROJECT-BASED LEARNING · </a:t>
            </a:r>
            <a:r>
              <a:rPr lang="en-US" sz="1000" b="1" dirty="0">
                <a:solidFill>
                  <a:srgbClr val="E8B44A"/>
                </a:solidFill>
                <a:latin typeface="Menlo"/>
              </a:rPr>
              <a:t>REVIEW 1</a:t>
            </a:r>
            <a:endParaRPr sz="1000" b="1" i="0" dirty="0">
              <a:solidFill>
                <a:srgbClr val="E8B44A"/>
              </a:solidFill>
              <a:latin typeface="Menl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1783080"/>
            <a:ext cx="63093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5200" b="1">
                <a:solidFill>
                  <a:srgbClr val="E9F0FA"/>
                </a:solidFill>
                <a:latin typeface="Helvetica Neue"/>
              </a:rPr>
              <a:t>AIRLINE</a:t>
            </a:r>
          </a:p>
          <a:p>
            <a:pPr>
              <a:lnSpc>
                <a:spcPct val="92000"/>
              </a:lnSpc>
            </a:pPr>
            <a:r>
              <a:rPr sz="5200" b="1">
                <a:solidFill>
                  <a:srgbClr val="E8B44A"/>
                </a:solidFill>
                <a:latin typeface="Helvetica Neue"/>
              </a:rPr>
              <a:t>RESERVATION</a:t>
            </a:r>
          </a:p>
          <a:p>
            <a:pPr>
              <a:lnSpc>
                <a:spcPct val="92000"/>
              </a:lnSpc>
            </a:pPr>
            <a:r>
              <a:rPr sz="5200" b="1">
                <a:solidFill>
                  <a:srgbClr val="E9F0FA"/>
                </a:solidFill>
                <a:latin typeface="Helvetica Neue"/>
              </a:rP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7630"/>
            <a:ext cx="585774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DESIGN AND IMPLEMENTATION OF A DATABASE MANAGEMENT SYSTEM FOR AIRLINE RESERVATION AND FLIGHT OPERATIONS MANAGEMENT SYSTEM</a:t>
            </a:r>
            <a:endParaRPr sz="1400" b="0" i="0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35331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FC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0783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FCBFF"/>
                </a:solidFill>
                <a:latin typeface="Menlo"/>
              </a:rPr>
              <a:t>19 RELATIONS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5074920"/>
            <a:ext cx="171907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FC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9424" y="5107838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FCBFF"/>
                </a:solidFill>
                <a:latin typeface="Menlo"/>
              </a:rPr>
              <a:t>24 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5074920"/>
            <a:ext cx="53035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E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41648" y="510783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6EE08A"/>
                </a:solidFill>
                <a:latin typeface="Menlo"/>
              </a:rPr>
              <a:t>3NF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5074920"/>
            <a:ext cx="62179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58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510783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8CE0"/>
                </a:solidFill>
                <a:latin typeface="Menlo"/>
              </a:rPr>
              <a:t>RBAC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5074920"/>
            <a:ext cx="107899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0096" y="5107838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8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16439"/>
            <a:ext cx="6400800" cy="229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chemeClr val="bg1"/>
                </a:solidFill>
                <a:latin typeface="Menlo"/>
              </a:rPr>
              <a:t>REVIEW 1  ·  WEEK 7  ·  </a:t>
            </a:r>
            <a:r>
              <a:rPr lang="en-US" sz="1400" b="1" i="0" dirty="0">
                <a:solidFill>
                  <a:schemeClr val="bg1"/>
                </a:solidFill>
                <a:latin typeface="Menlo"/>
              </a:rPr>
              <a:t>JOE DANIEL </a:t>
            </a:r>
            <a:r>
              <a:rPr sz="1400" b="1" i="0" dirty="0">
                <a:solidFill>
                  <a:schemeClr val="bg1"/>
                </a:solidFill>
                <a:latin typeface="Menlo"/>
              </a:rPr>
              <a:t>·</a:t>
            </a:r>
            <a:r>
              <a:rPr lang="en-US" sz="1400" b="1" i="0" dirty="0">
                <a:solidFill>
                  <a:schemeClr val="bg1"/>
                </a:solidFill>
                <a:latin typeface="Menlo"/>
              </a:rPr>
              <a:t>  25WU0103019</a:t>
            </a:r>
            <a:endParaRPr sz="1400" b="1" i="0" dirty="0">
              <a:solidFill>
                <a:schemeClr val="bg1"/>
              </a:solidFill>
              <a:latin typeface="Menl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63840" y="1463040"/>
            <a:ext cx="3931920" cy="3840480"/>
          </a:xfrm>
          <a:prstGeom prst="rect">
            <a:avLst/>
          </a:prstGeom>
          <a:solidFill>
            <a:srgbClr val="0C182B"/>
          </a:solidFill>
          <a:ln w="952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0" y="1463040"/>
            <a:ext cx="3931920" cy="475488"/>
          </a:xfrm>
          <a:prstGeom prst="rect">
            <a:avLst/>
          </a:prstGeom>
          <a:solidFill>
            <a:srgbClr val="17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4" y="1600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8B44A"/>
                </a:solidFill>
                <a:latin typeface="Helvetica Neue"/>
              </a:rPr>
              <a:t>BOARDING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163677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88A6"/>
                </a:solidFill>
                <a:latin typeface="Menlo"/>
              </a:rPr>
              <a:t>SEQ 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1396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4" y="23042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Airline Reservation &amp;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Flight Operations DBMS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268833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28529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Review 1 · Week 7 · 5 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0540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DELIVERABLE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2186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Problem · Scope · Objectives · Users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ER design · Relational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360273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NORMAL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37673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Third Normal Form (3NF)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4" y="39684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FRONT 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4" y="41330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Role-based web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4" y="433425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1584" y="449884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6EE08A"/>
                </a:solidFill>
                <a:latin typeface="Helvetica Neue"/>
              </a:rPr>
              <a:t>DESIGN FROZEN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15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9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777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412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92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301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682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4317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952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5333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968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76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7111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761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8000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8508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8889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939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9778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15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54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0921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1302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81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2191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282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3207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3715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223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4604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5112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574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6128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763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7271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7779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8287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8795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9176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9684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031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0700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1335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171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209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2478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3113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3494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2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01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The problem, in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9BDD6"/>
                </a:solidFill>
                <a:latin typeface="Helvetica Neue"/>
              </a:rPr>
              <a:t>An airline runs on one shared fact: who is on which seat of which flight. Today it lives in four disconnected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2633472" cy="1234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103120"/>
            <a:ext cx="33020" cy="1234440"/>
          </a:xfrm>
          <a:prstGeom prst="rect">
            <a:avLst/>
          </a:prstGeom>
          <a:solidFill>
            <a:srgbClr val="F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9F0FA"/>
                </a:solidFill>
                <a:latin typeface="Helvetica Neue"/>
              </a:rPr>
              <a:t>Duplicate seat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24912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A9BDD6"/>
                </a:solidFill>
                <a:latin typeface="Helvetica Neue"/>
              </a:rPr>
              <a:t>Two counters sell 14A. Found at the gate.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103120"/>
            <a:ext cx="2633472" cy="1234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2103120"/>
            <a:ext cx="33020" cy="12344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2304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E9F0FA"/>
                </a:solidFill>
                <a:latin typeface="Helvetica Neue"/>
              </a:rPr>
              <a:t>Manifests that disagree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724912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 dirty="0">
                <a:solidFill>
                  <a:srgbClr val="A9BDD6"/>
                </a:solidFill>
                <a:latin typeface="Helvetica Neue"/>
              </a:rPr>
              <a:t>Ticketed, boarded and bag lists never reconcile.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103120"/>
            <a:ext cx="2633472" cy="1234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2103120"/>
            <a:ext cx="33020" cy="1234440"/>
          </a:xfrm>
          <a:prstGeom prst="rect">
            <a:avLst/>
          </a:prstGeom>
          <a:solidFill>
            <a:srgbClr val="F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2304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9F0FA"/>
                </a:solidFill>
                <a:latin typeface="Helvetica Neue"/>
              </a:rPr>
              <a:t>Orphaned baggage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724912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A9BDD6"/>
                </a:solidFill>
                <a:latin typeface="Helvetica Neue"/>
              </a:rPr>
              <a:t>A bag tag with no traceable passenger.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103120"/>
            <a:ext cx="2633472" cy="1234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103120"/>
            <a:ext cx="33020" cy="12344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3042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9F0FA"/>
                </a:solidFill>
                <a:latin typeface="Helvetica Neue"/>
              </a:rPr>
              <a:t>Redundancy &amp; anomalies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24912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A9BDD6"/>
                </a:solidFill>
                <a:latin typeface="Helvetica Neue"/>
              </a:rPr>
              <a:t>Aircraft model and city retyped on every row.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11880"/>
            <a:ext cx="11064240" cy="1417320"/>
          </a:xfrm>
          <a:prstGeom prst="rect">
            <a:avLst/>
          </a:prstGeom>
          <a:solidFill>
            <a:srgbClr val="101F3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822191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 dirty="0">
                <a:solidFill>
                  <a:srgbClr val="E9F0FA"/>
                </a:solidFill>
                <a:latin typeface="Helvetica Neue"/>
              </a:rPr>
              <a:t>Design a </a:t>
            </a:r>
            <a:r>
              <a:rPr sz="1400" b="0" i="0" dirty="0" err="1">
                <a:solidFill>
                  <a:srgbClr val="E9F0FA"/>
                </a:solidFill>
                <a:latin typeface="Helvetica Neue"/>
              </a:rPr>
              <a:t>normalised</a:t>
            </a:r>
            <a:r>
              <a:rPr sz="1400" b="0" i="0" dirty="0">
                <a:solidFill>
                  <a:srgbClr val="E9F0FA"/>
                </a:solidFill>
                <a:latin typeface="Helvetica Neue"/>
              </a:rPr>
              <a:t> relational database that holds airports, routes, aircraft, seats, flights, fares, passengers, bookings, tickets, check-ins, baggage, cancellations and payments as a single authoritative record; enforces the airline's rules inside the database; stays correct when two agents book the same seat at the same instant; and serves a role-based web application.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230368"/>
            <a:ext cx="2633472" cy="96012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230368"/>
            <a:ext cx="2633472" cy="3048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413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4AA8FF"/>
                </a:solidFill>
                <a:latin typeface="Menlo"/>
              </a:rPr>
              <a:t>SINGLE SOURCE OF 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42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A9BDD6"/>
                </a:solidFill>
                <a:latin typeface="Helvetica Neue"/>
              </a:rPr>
              <a:t>One row per fact, joined not copied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4992" y="5230368"/>
            <a:ext cx="2633472" cy="96012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64992" y="5230368"/>
            <a:ext cx="2633472" cy="3048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29584" y="5413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RULES IN THE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5742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A9BDD6"/>
                </a:solidFill>
                <a:latin typeface="Helvetica Neue"/>
              </a:rPr>
              <a:t>Constraints and triggers, not UI checks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5230368"/>
            <a:ext cx="2633472" cy="96012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63056" y="5230368"/>
            <a:ext cx="2633472" cy="30480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5413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6EE08A"/>
                </a:solidFill>
                <a:latin typeface="Menlo"/>
              </a:rPr>
              <a:t>CORRECT UNDER CONCURRENCY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742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A9BDD6"/>
                </a:solidFill>
                <a:latin typeface="Helvetica Neue"/>
              </a:rPr>
              <a:t>Row locks + a unique key backstop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5230368"/>
            <a:ext cx="2633472" cy="96012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61120" y="5230368"/>
            <a:ext cx="2633472" cy="30480"/>
          </a:xfrm>
          <a:prstGeom prst="rect">
            <a:avLst/>
          </a:prstGeom>
          <a:solidFill>
            <a:srgbClr val="B5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25712" y="5413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B58CE0"/>
                </a:solidFill>
                <a:latin typeface="Menlo"/>
              </a:rPr>
              <a:t>ROLE-BASED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2" y="57424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A9BDD6"/>
                </a:solidFill>
                <a:latin typeface="Helvetica Neue"/>
              </a:rPr>
              <a:t>Every section gated by permission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02 · SCOPE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What is in, what is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out,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3520440" cy="3520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3520440" cy="30480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EE08A"/>
                </a:solidFill>
                <a:latin typeface="Menlo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317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1800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Airports, routes, aircraft types and fleet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58318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Seat maps, flights, gates, actual 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6207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848356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Fares per flight per cabin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12724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11353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Passengers, bookings (PNR), tickets,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37870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Check-in, boarding pass, baggage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6576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64388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Cancellation, refund,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92277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90906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RBAC: roles, permissions, role 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8795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EE08A"/>
                </a:solidFill>
                <a:latin typeface="Menlo"/>
              </a:rPr>
              <a:t>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174236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Eight SQL reports as 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1783080"/>
            <a:ext cx="3520440" cy="3520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0248" y="1783080"/>
            <a:ext cx="3520440" cy="30480"/>
          </a:xfrm>
          <a:prstGeom prst="rect">
            <a:avLst/>
          </a:prstGeom>
          <a:solidFill>
            <a:srgbClr val="FF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71416" y="19751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7A86"/>
                </a:solidFill>
                <a:latin typeface="Menlo"/>
              </a:rPr>
              <a:t>OUT OF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23317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31800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GDS / IATA interlining and codeshare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258318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Dynamic revenue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286207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2848356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Crew rostering and duty-time legality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312724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311353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Frequent-flyer accrual and redemption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339242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0872" y="337870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Cargo, maintenance (MRO), load sheets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36576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364388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Live payment-gateway authorisation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392277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7A86"/>
                </a:solidFill>
                <a:latin typeface="Menlo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390906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Airport slots and ATC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3568" y="1783080"/>
            <a:ext cx="3520440" cy="352044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973568" y="1783080"/>
            <a:ext cx="3520440" cy="3048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74736" y="19751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8B44A"/>
                </a:solidFill>
                <a:latin typeface="Menlo"/>
              </a:rPr>
              <a:t>OBJECTIVES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4736" y="23317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231800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Model all thirteen named entities in a crow's-foot ERD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4736" y="273405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272034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Normalise every relation to 3NF, showing the FD that forced 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74736" y="313639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3122676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Push each business rule to the lowest layer that can enforce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74736" y="353872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352501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Guarantee one seat, one passenger under concurrency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74736" y="394106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4192" y="392734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Enforce least privilege through RBAC, not hidden buttons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43434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4192" y="432968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Answer the operational day in SQL, not a manual merge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4736" y="474573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8B44A"/>
                </a:solidFill>
                <a:latin typeface="Menlo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4192" y="473202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9BDD6"/>
                </a:solidFill>
                <a:latin typeface="Helvetica Neue"/>
              </a:rPr>
              <a:t>Index what is actually searched, and justify each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03 · USERS &amp;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Seven roles,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seven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9BDD6"/>
                </a:solidFill>
                <a:latin typeface="Helvetica Neue"/>
              </a:rPr>
              <a:t>The web app has one section per role. Access is data, not code: APP_USER → ROLE → ROLE_PERMISSION →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11064240" cy="45720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776220"/>
            <a:ext cx="11064240" cy="12700"/>
          </a:xfrm>
          <a:prstGeom prst="rect">
            <a:avLst/>
          </a:prstGeom>
          <a:solidFill>
            <a:srgbClr val="2C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400300"/>
            <a:ext cx="152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3432" y="2400300"/>
            <a:ext cx="20577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WEB SECTION THEY LAND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463" y="2400300"/>
            <a:ext cx="77938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FLIGHTS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1" i="0">
                <a:solidFill>
                  <a:srgbClr val="E8B44A"/>
                </a:solidFill>
                <a:latin typeface="Menlo"/>
              </a:rPr>
              <a:t>&amp; FARES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3156" y="2400300"/>
            <a:ext cx="867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PASSENGERS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10" y="2400300"/>
            <a:ext cx="867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BOOKINGS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1" i="0">
                <a:solidFill>
                  <a:srgbClr val="E8B44A"/>
                </a:solidFill>
                <a:latin typeface="Menlo"/>
              </a:rPr>
              <a:t>/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0864" y="2400300"/>
            <a:ext cx="5589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SEATS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6154" y="2400300"/>
            <a:ext cx="867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CHECK-IN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1" i="0">
                <a:solidFill>
                  <a:srgbClr val="E8B44A"/>
                </a:solidFill>
                <a:latin typeface="Menlo"/>
              </a:rPr>
              <a:t>/ BAGGAGE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008" y="2400300"/>
            <a:ext cx="7353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CANCEL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1" i="0">
                <a:solidFill>
                  <a:srgbClr val="E8B44A"/>
                </a:solidFill>
                <a:latin typeface="Menlo"/>
              </a:rPr>
              <a:t>/ REFUND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1620" y="2400300"/>
            <a:ext cx="7353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3232" y="2400300"/>
            <a:ext cx="60306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110484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2839212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Passenger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3432" y="2839212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My trips · book · web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7463" y="2839212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3156" y="283921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 U 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10" y="283921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C 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864" y="2839212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U 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6154" y="283921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C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0008" y="2839212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C 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1620" y="2839212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C R 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3232" y="2839212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118104"/>
            <a:ext cx="11064240" cy="32918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6928" y="3439668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3168396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Reservation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3432" y="3168396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Sell &amp; amend desk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7463" y="3168396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3156" y="316839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C R 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10" y="316839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C R 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0864" y="3168396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C R 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6154" y="316839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0008" y="3168396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C 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1620" y="3168396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C 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3232" y="3168396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768852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497580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Check-in /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3432" y="3497580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Departure control console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7463" y="3497580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63156" y="3497580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10" y="3497580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0864" y="3497580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 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6154" y="3497580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C R 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0008" y="3497580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1620" y="3497580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3232" y="3497580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776472"/>
            <a:ext cx="11064240" cy="32918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66928" y="4098036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8368" y="3826764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Flight Ops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3432" y="3826764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Live operations 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7463" y="3826764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 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63156" y="3826764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10" y="3826764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0864" y="3826764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 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6154" y="3826764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0008" y="3826764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91620" y="3826764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3232" y="3826764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4427220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8368" y="4155948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Fleet Planner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3432" y="4155948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Schedule &amp; fare builder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37463" y="4155948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C R U 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63156" y="4155948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10" y="4155948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0864" y="4155948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C R U 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6154" y="4155948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10008" y="4155948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91620" y="4155948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3232" y="4155948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4434840"/>
            <a:ext cx="11064240" cy="32918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66928" y="4756404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58368" y="4485132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Finance Officer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3432" y="4485132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Revenue &amp; settlement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37463" y="4485132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3156" y="448513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7010" y="448513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0864" y="4485132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96154" y="4485132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10008" y="4485132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R U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91620" y="4485132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C R 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73232" y="4485132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5085588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58368" y="4814316"/>
            <a:ext cx="152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i="0">
                <a:solidFill>
                  <a:srgbClr val="E9F0FA"/>
                </a:solidFill>
                <a:latin typeface="Helvetica Neue"/>
              </a:rPr>
              <a:t>Administrator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33432" y="4814316"/>
            <a:ext cx="205772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58CE0"/>
                </a:solidFill>
                <a:latin typeface="Helvetica Neue"/>
              </a:rPr>
              <a:t>User &amp; role management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37463" y="4814316"/>
            <a:ext cx="77938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ALL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63156" y="481431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ALL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77010" y="481431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ALL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90864" y="4814316"/>
            <a:ext cx="55898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ALL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96154" y="4814316"/>
            <a:ext cx="86755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6EE08A"/>
                </a:solidFill>
                <a:latin typeface="Menlo"/>
              </a:rPr>
              <a:t>ALL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10008" y="4814316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7A86"/>
                </a:solidFill>
                <a:latin typeface="Menlo"/>
              </a:rPr>
              <a:t>ALL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91620" y="4814316"/>
            <a:ext cx="7353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FFD98A"/>
                </a:solidFill>
                <a:latin typeface="Menlo"/>
              </a:rPr>
              <a:t>ALL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3232" y="4814316"/>
            <a:ext cx="60306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FCBFF"/>
                </a:solidFill>
                <a:latin typeface="Menlo"/>
              </a:rPr>
              <a:t>ALL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5212080"/>
            <a:ext cx="2633472" cy="932688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66928" y="5212080"/>
            <a:ext cx="30480" cy="932688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31520" y="535838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EE08A"/>
                </a:solidFill>
                <a:latin typeface="Menlo"/>
              </a:rPr>
              <a:t>DATABASE LAYER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559612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GRANTs on views per database role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64992" y="5212080"/>
            <a:ext cx="2633472" cy="932688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3364992" y="5212080"/>
            <a:ext cx="30480" cy="932688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529584" y="535838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4AA8FF"/>
                </a:solidFill>
                <a:latin typeface="Menlo"/>
              </a:rPr>
              <a:t>APPLICATION LAYER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29584" y="559612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Route guard reads ROLE_PERMISSION on login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63056" y="5212080"/>
            <a:ext cx="2633472" cy="932688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63056" y="5212080"/>
            <a:ext cx="30480" cy="932688"/>
          </a:xfrm>
          <a:prstGeom prst="rect">
            <a:avLst/>
          </a:prstGeom>
          <a:solidFill>
            <a:srgbClr val="B5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27648" y="535838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8CE0"/>
                </a:solidFill>
                <a:latin typeface="Menlo"/>
              </a:rPr>
              <a:t>ROW LAYER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27648" y="559612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passenger_id = current_user_passenger() in a view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5212080"/>
            <a:ext cx="2633472" cy="932688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961120" y="5212080"/>
            <a:ext cx="30480" cy="932688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125712" y="535838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AUDIT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25712" y="559612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created_by / processed_by on every 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04 · CONCEPTUAL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5029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E9F0FA"/>
                </a:solidFill>
                <a:latin typeface="Helvetica Neue"/>
              </a:rPr>
              <a:t>Entity–Relationship </a:t>
            </a:r>
            <a:r>
              <a:rPr sz="2700" b="1">
                <a:solidFill>
                  <a:srgbClr val="E8B44A"/>
                </a:solidFill>
                <a:latin typeface="Helvetica Neue"/>
              </a:rPr>
              <a:t>Diagram</a:t>
            </a:r>
          </a:p>
        </p:txBody>
      </p:sp>
      <p:pic>
        <p:nvPicPr>
          <p:cNvPr id="7" name="Picture 6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60704"/>
            <a:ext cx="7290816" cy="5047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133856"/>
            <a:ext cx="3931920" cy="4919472"/>
          </a:xfrm>
          <a:prstGeom prst="rect">
            <a:avLst/>
          </a:prstGeom>
          <a:solidFill>
            <a:srgbClr val="0C182B"/>
          </a:solidFill>
          <a:ln w="952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1133856"/>
            <a:ext cx="3931920" cy="3048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65008" y="131673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16459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CBFF"/>
                </a:solidFill>
                <a:latin typeface="Menlo"/>
              </a:rPr>
              <a:t>|—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642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exactly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92024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CBFF"/>
                </a:solidFill>
                <a:latin typeface="Menlo"/>
              </a:rPr>
              <a:t>—&lt;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385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many (0..N)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19456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CBFF"/>
                </a:solidFill>
                <a:latin typeface="Menlo"/>
              </a:rPr>
              <a:t>—o|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128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zero or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46888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CBFF"/>
                </a:solidFill>
                <a:latin typeface="Menlo"/>
              </a:rPr>
              <a:t>- - 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4871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audit / attribution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2816352"/>
            <a:ext cx="3529584" cy="762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980944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i="0">
                <a:solidFill>
                  <a:srgbClr val="E8B44A"/>
                </a:solidFill>
                <a:latin typeface="Menlo"/>
              </a:rPr>
              <a:t>PK  primary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23697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i="0">
                <a:solidFill>
                  <a:srgbClr val="8FCBFF"/>
                </a:solidFill>
                <a:latin typeface="Menlo"/>
              </a:rPr>
              <a:t>FK  foreign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349300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i="0">
                <a:solidFill>
                  <a:srgbClr val="B58CE0"/>
                </a:solidFill>
                <a:latin typeface="Menlo"/>
              </a:rPr>
              <a:t>AK  alternate (unique)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74904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i="0">
                <a:solidFill>
                  <a:srgbClr val="6EE08A"/>
                </a:solidFill>
                <a:latin typeface="Menlo"/>
              </a:rPr>
              <a:t>◆   associative 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4078224"/>
            <a:ext cx="3529584" cy="762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65008" y="4242816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Entities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424281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i="0">
                <a:solidFill>
                  <a:srgbClr val="FFD98A"/>
                </a:solidFill>
                <a:latin typeface="Menlo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448056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48056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i="0">
                <a:solidFill>
                  <a:srgbClr val="FFD98A"/>
                </a:solidFill>
                <a:latin typeface="Menlo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471830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Associative entities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471830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i="0">
                <a:solidFill>
                  <a:srgbClr val="FFD98A"/>
                </a:solidFill>
                <a:latin typeface="Menl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95604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Normal 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495604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i="0">
                <a:solidFill>
                  <a:srgbClr val="FFD98A"/>
                </a:solidFill>
                <a:latin typeface="Menlo"/>
              </a:rPr>
              <a:t>3NF / BCNF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5008" y="5266944"/>
            <a:ext cx="3529584" cy="762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65008" y="541324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EE08A"/>
                </a:solidFill>
                <a:latin typeface="Menlo"/>
              </a:rPr>
              <a:t>TICKET 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5632704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9BDD6"/>
                </a:solidFill>
                <a:latin typeface="Helvetica Neue"/>
              </a:rPr>
              <a:t>the hub — booking × passenger × flight, plus the optional seat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598017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8CE0"/>
                </a:solidFill>
                <a:latin typeface="Menlo"/>
              </a:rPr>
              <a:t>ROLE_PERMISSION 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6199632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9BDD6"/>
                </a:solidFill>
                <a:latin typeface="Helvetica Neue"/>
              </a:rPr>
              <a:t>the RBAC grid the web app reads on every request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037C-8901-DB8D-5795-4F44F3A4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18CFF7-9EC4-ABC2-19D6-1E6E9B50A1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5" y="2794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2C34AC-F9E0-D23D-DDBA-B800166C2017}"/>
              </a:ext>
            </a:extLst>
          </p:cNvPr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A3099-4C54-FB1A-34BD-30E78664796E}"/>
              </a:ext>
            </a:extLst>
          </p:cNvPr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3B9DB-7BB0-365C-911F-F8C3BE3D2C21}"/>
              </a:ext>
            </a:extLst>
          </p:cNvPr>
          <p:cNvSpPr txBox="1"/>
          <p:nvPr/>
        </p:nvSpPr>
        <p:spPr>
          <a:xfrm>
            <a:off x="457200" y="25603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04 · CONCEPTUAL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738FB-9D0A-DB22-C045-52CFAB2DBBF4}"/>
              </a:ext>
            </a:extLst>
          </p:cNvPr>
          <p:cNvSpPr txBox="1"/>
          <p:nvPr/>
        </p:nvSpPr>
        <p:spPr>
          <a:xfrm>
            <a:off x="420624" y="5029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E9F0FA"/>
                </a:solidFill>
                <a:latin typeface="Helvetica Neue"/>
              </a:rPr>
              <a:t>Entity–Relationship </a:t>
            </a:r>
            <a:r>
              <a:rPr sz="2700" b="1">
                <a:solidFill>
                  <a:srgbClr val="E8B44A"/>
                </a:solidFill>
                <a:latin typeface="Helvetica Neue"/>
              </a:rPr>
              <a:t>Diagram</a:t>
            </a:r>
          </a:p>
        </p:txBody>
      </p:sp>
      <p:pic>
        <p:nvPicPr>
          <p:cNvPr id="7" name="Picture 6" descr="er.png">
            <a:extLst>
              <a:ext uri="{FF2B5EF4-FFF2-40B4-BE49-F238E27FC236}">
                <a16:creationId xmlns:a16="http://schemas.microsoft.com/office/drawing/2014/main" id="{A5D04F60-9C3E-6947-8770-A6076C8C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49" y="960120"/>
            <a:ext cx="10013275" cy="580200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ACCED26-EE4B-53F4-AC27-04CFB5F3917D}"/>
              </a:ext>
            </a:extLst>
          </p:cNvPr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8620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dirty="0">
                <a:solidFill>
                  <a:srgbClr val="E8B44A"/>
                </a:solidFill>
                <a:latin typeface="Menlo"/>
              </a:rPr>
              <a:t>0</a:t>
            </a:r>
            <a:r>
              <a:rPr lang="en-US" sz="950" b="1" i="0" dirty="0">
                <a:solidFill>
                  <a:srgbClr val="E8B44A"/>
                </a:solidFill>
                <a:latin typeface="Menlo"/>
              </a:rPr>
              <a:t>5</a:t>
            </a:r>
            <a:r>
              <a:rPr sz="950" b="1" i="0" dirty="0">
                <a:solidFill>
                  <a:srgbClr val="E8B44A"/>
                </a:solidFill>
                <a:latin typeface="Menlo"/>
              </a:rPr>
              <a:t> ·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Every rule, and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where it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9BDD6"/>
                </a:solidFill>
                <a:latin typeface="Helvetica Neue"/>
              </a:rPr>
              <a:t>A rule enforced only in the application is a rule a stray UPDATE will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11064240" cy="2743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5798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57984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BUSINESS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5798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ENFORCED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1579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LIVES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6430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59736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One seat per passenger per flight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46430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UNIQUE(flight_id, passenger_id)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24643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674619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724911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720339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One passenger per seat per flight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724911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UNIQUE(flight_id, seat_id) partial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724911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98551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98094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Aircraft-capacity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985514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Trigger: live coupons vs. total_capacity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98551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D98A"/>
                </a:solidFill>
                <a:latin typeface="Menlo"/>
              </a:rPr>
              <a:t>TRIGGER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195825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17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241545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Seat must exist on the operating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246117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Trigger across SEAT / FLIGHT / AIRCRAFT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324611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D98A"/>
                </a:solidFill>
                <a:latin typeface="Menlo"/>
              </a:rPr>
              <a:t>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50672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50214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Non-negative, bounded baggage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50672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CHECK(weight_kg BETWEEN 0 AND 40)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350672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E08A"/>
                </a:solidFill>
                <a:latin typeface="Menlo"/>
              </a:rPr>
              <a:t>COLUMN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717031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767323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762751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No orphan baggage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3767323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checkin_id NOT NULL FK, ON DELETE RESTRICT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767323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8CE0"/>
                </a:solidFill>
                <a:latin typeface="Menlo"/>
              </a:rPr>
              <a:t>REFERENTIAL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02792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02335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Check-in only for confirmed tickets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027926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Trigger on status + check-in window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402792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D98A"/>
                </a:solidFill>
                <a:latin typeface="Menlo"/>
              </a:rPr>
              <a:t>TRIGGER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38237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288529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283957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One check-in, one cancellation per ticket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288529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UNIQUE(ticket_id) on both relations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4288529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54913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454456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Refund from the frozen fare, seat released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4549132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sp_cancel_ticket() in one transaction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45491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7A86"/>
                </a:solidFill>
                <a:latin typeface="Menlo"/>
              </a:rPr>
              <a:t>TRANSACTION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759443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809735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4805163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Ticketing requires settled payment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60" y="4809735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sp_issue_tickets(): SUM(payments) &gt;= 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20" y="4809735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7A86"/>
                </a:solidFill>
                <a:latin typeface="Menlo"/>
              </a:rPr>
              <a:t>TRANSACTION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07033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065766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Idempotent payments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507033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UNIQUE(txn_reference)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507033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280649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" y="5330941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326369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Route origin ≠ destination, arrival &gt; departure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5330941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CHECK constraints on ROUTE and FLIGHT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5330941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59154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558697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Identity uniqueness (PNR, ticket, tag, tail)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60" y="5591544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UNIQUE on every alternate 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55915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FCBFF"/>
                </a:solidFill>
                <a:latin typeface="Menlo"/>
              </a:rPr>
              <a:t>TABLE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801855"/>
            <a:ext cx="11064240" cy="260603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852147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R14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5847575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9F0FA"/>
                </a:solidFill>
                <a:latin typeface="Helvetica Neue"/>
              </a:rPr>
              <a:t>A user may only reach permitted sections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4960" y="5852147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8FCBFF"/>
                </a:solidFill>
                <a:latin typeface="Menlo"/>
              </a:rPr>
              <a:t>ROLE_PERMISSION + GRANTs on views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85214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8CE0"/>
                </a:solidFill>
                <a:latin typeface="Menlo"/>
              </a:rPr>
              <a:t>RBAC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19047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A9BDD6"/>
                </a:solidFill>
                <a:latin typeface="Helvetica Neue"/>
              </a:rPr>
              <a:t>The application layer gives the error message. The database layer makes the invalid state impossible — whichever client, script or console reaches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64FF-9B3B-DC09-91CD-87678B29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68F355-0D4D-D7D9-F642-B5B700D417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E2761-A363-0857-C599-5B57D7A5477E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D8C1A-0F61-B5BA-AE32-0974A5D390BB}"/>
              </a:ext>
            </a:extLst>
          </p:cNvPr>
          <p:cNvSpPr/>
          <p:nvPr/>
        </p:nvSpPr>
        <p:spPr>
          <a:xfrm>
            <a:off x="7452360" y="0"/>
            <a:ext cx="4745736" cy="6858000"/>
          </a:xfrm>
          <a:prstGeom prst="rect">
            <a:avLst/>
          </a:prstGeom>
          <a:solidFill>
            <a:srgbClr val="08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4F2410-E56A-D43F-CD9D-3D33E6F72420}"/>
              </a:ext>
            </a:extLst>
          </p:cNvPr>
          <p:cNvSpPr/>
          <p:nvPr/>
        </p:nvSpPr>
        <p:spPr>
          <a:xfrm>
            <a:off x="7452360" y="0"/>
            <a:ext cx="12700" cy="685800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61DC-FB77-4BCE-49C7-1D5E1EE14E3E}"/>
              </a:ext>
            </a:extLst>
          </p:cNvPr>
          <p:cNvSpPr txBox="1"/>
          <p:nvPr/>
        </p:nvSpPr>
        <p:spPr>
          <a:xfrm>
            <a:off x="822960" y="1877031"/>
            <a:ext cx="6400800" cy="1639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E8B44A"/>
                </a:solidFill>
                <a:latin typeface="Menlo"/>
              </a:rPr>
              <a:t>DBMS · PROJECT-BASED LEARNING · </a:t>
            </a:r>
            <a:r>
              <a:rPr lang="en-US" sz="1000" b="1" dirty="0">
                <a:solidFill>
                  <a:srgbClr val="E8B44A"/>
                </a:solidFill>
                <a:latin typeface="Menlo"/>
              </a:rPr>
              <a:t>REVIEW 1</a:t>
            </a:r>
            <a:endParaRPr sz="1000" b="1" i="0" dirty="0">
              <a:solidFill>
                <a:srgbClr val="E8B44A"/>
              </a:solidFill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2F99B-B31D-B540-828B-B41057491BFC}"/>
              </a:ext>
            </a:extLst>
          </p:cNvPr>
          <p:cNvSpPr txBox="1"/>
          <p:nvPr/>
        </p:nvSpPr>
        <p:spPr>
          <a:xfrm>
            <a:off x="772740" y="2188220"/>
            <a:ext cx="4070624" cy="18688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6600" b="1" dirty="0">
                <a:solidFill>
                  <a:srgbClr val="E8B44A"/>
                </a:solidFill>
                <a:latin typeface="Helvetica Neue"/>
              </a:rPr>
              <a:t>THANK YOU</a:t>
            </a:r>
            <a:endParaRPr sz="6600" b="1" dirty="0">
              <a:solidFill>
                <a:srgbClr val="E8B44A"/>
              </a:solidFill>
              <a:latin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8A91B-04AA-A704-9AF5-3628899EEC6B}"/>
              </a:ext>
            </a:extLst>
          </p:cNvPr>
          <p:cNvSpPr txBox="1"/>
          <p:nvPr/>
        </p:nvSpPr>
        <p:spPr>
          <a:xfrm>
            <a:off x="822960" y="4047630"/>
            <a:ext cx="585774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DESIGN AND IMPLEMENTATION OF A DATABASE MANAGEMENT SYSTEM FOR AIRLINE RESERVATION AND FLIGHT OPERATIONS MANAGEMENT SYSTEM</a:t>
            </a:r>
            <a:endParaRPr sz="1400" b="0" i="0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68806B-F201-C24C-0FE5-A562CB59F4A9}"/>
              </a:ext>
            </a:extLst>
          </p:cNvPr>
          <p:cNvSpPr/>
          <p:nvPr/>
        </p:nvSpPr>
        <p:spPr>
          <a:xfrm>
            <a:off x="822960" y="5074920"/>
            <a:ext cx="135331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FC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D921C-01E4-0AAC-082F-F786E945E620}"/>
              </a:ext>
            </a:extLst>
          </p:cNvPr>
          <p:cNvSpPr txBox="1"/>
          <p:nvPr/>
        </p:nvSpPr>
        <p:spPr>
          <a:xfrm>
            <a:off x="822960" y="510783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FCBFF"/>
                </a:solidFill>
                <a:latin typeface="Menlo"/>
              </a:rPr>
              <a:t>19 RELATIONS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390EFF-7816-EE83-82EA-47162B6D240A}"/>
              </a:ext>
            </a:extLst>
          </p:cNvPr>
          <p:cNvSpPr/>
          <p:nvPr/>
        </p:nvSpPr>
        <p:spPr>
          <a:xfrm>
            <a:off x="2249424" y="5074920"/>
            <a:ext cx="171907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FC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699C5-62EA-5D7C-EC68-58AA4C6B31B6}"/>
              </a:ext>
            </a:extLst>
          </p:cNvPr>
          <p:cNvSpPr txBox="1"/>
          <p:nvPr/>
        </p:nvSpPr>
        <p:spPr>
          <a:xfrm>
            <a:off x="2249424" y="5107838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FCBFF"/>
                </a:solidFill>
                <a:latin typeface="Menlo"/>
              </a:rPr>
              <a:t>24 RELATIONSHIPS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5A8493-D291-7D1A-3334-72A2EED10F84}"/>
              </a:ext>
            </a:extLst>
          </p:cNvPr>
          <p:cNvSpPr/>
          <p:nvPr/>
        </p:nvSpPr>
        <p:spPr>
          <a:xfrm>
            <a:off x="4041648" y="5074920"/>
            <a:ext cx="53035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E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2400CD-780D-AABB-9433-854749970DFB}"/>
              </a:ext>
            </a:extLst>
          </p:cNvPr>
          <p:cNvSpPr txBox="1"/>
          <p:nvPr/>
        </p:nvSpPr>
        <p:spPr>
          <a:xfrm>
            <a:off x="4041648" y="510783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6EE08A"/>
                </a:solidFill>
                <a:latin typeface="Menlo"/>
              </a:rPr>
              <a:t>3NF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DE525A-90B5-F460-0C9E-1597D6427C75}"/>
              </a:ext>
            </a:extLst>
          </p:cNvPr>
          <p:cNvSpPr/>
          <p:nvPr/>
        </p:nvSpPr>
        <p:spPr>
          <a:xfrm>
            <a:off x="4645152" y="5074920"/>
            <a:ext cx="62179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58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357E3-D816-1ABF-113C-B2FA7D49F2E7}"/>
              </a:ext>
            </a:extLst>
          </p:cNvPr>
          <p:cNvSpPr txBox="1"/>
          <p:nvPr/>
        </p:nvSpPr>
        <p:spPr>
          <a:xfrm>
            <a:off x="4645152" y="510783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8CE0"/>
                </a:solidFill>
                <a:latin typeface="Menlo"/>
              </a:rPr>
              <a:t>RBAC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2FF6FD-8957-6816-0168-2047121547F5}"/>
              </a:ext>
            </a:extLst>
          </p:cNvPr>
          <p:cNvSpPr/>
          <p:nvPr/>
        </p:nvSpPr>
        <p:spPr>
          <a:xfrm>
            <a:off x="5340096" y="5074920"/>
            <a:ext cx="1078992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780C6C-7C41-2008-566C-EC396A60E7AE}"/>
              </a:ext>
            </a:extLst>
          </p:cNvPr>
          <p:cNvSpPr txBox="1"/>
          <p:nvPr/>
        </p:nvSpPr>
        <p:spPr>
          <a:xfrm>
            <a:off x="5340096" y="5107838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8 REPORTS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DBD4B-8C64-5D80-01AB-60815A44F098}"/>
              </a:ext>
            </a:extLst>
          </p:cNvPr>
          <p:cNvSpPr txBox="1"/>
          <p:nvPr/>
        </p:nvSpPr>
        <p:spPr>
          <a:xfrm>
            <a:off x="822960" y="5516439"/>
            <a:ext cx="6400800" cy="229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chemeClr val="bg1"/>
                </a:solidFill>
                <a:latin typeface="Menlo"/>
              </a:rPr>
              <a:t>REVIEW 1  ·  WEEK 7  ·  </a:t>
            </a:r>
            <a:r>
              <a:rPr lang="en-US" sz="1400" b="1" i="0" dirty="0">
                <a:solidFill>
                  <a:schemeClr val="bg1"/>
                </a:solidFill>
                <a:latin typeface="Menlo"/>
              </a:rPr>
              <a:t>JOE DANIEL </a:t>
            </a:r>
            <a:r>
              <a:rPr sz="1400" b="1" i="0" dirty="0">
                <a:solidFill>
                  <a:schemeClr val="bg1"/>
                </a:solidFill>
                <a:latin typeface="Menlo"/>
              </a:rPr>
              <a:t>·</a:t>
            </a:r>
            <a:r>
              <a:rPr lang="en-US" sz="1400" b="1" i="0" dirty="0">
                <a:solidFill>
                  <a:schemeClr val="bg1"/>
                </a:solidFill>
                <a:latin typeface="Menlo"/>
              </a:rPr>
              <a:t> 25WU0103019</a:t>
            </a:r>
            <a:endParaRPr sz="1400" b="1" i="0" dirty="0">
              <a:solidFill>
                <a:schemeClr val="bg1"/>
              </a:solidFill>
              <a:latin typeface="Menl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9AEB3-72F0-7310-E8D6-7007A317BE36}"/>
              </a:ext>
            </a:extLst>
          </p:cNvPr>
          <p:cNvSpPr/>
          <p:nvPr/>
        </p:nvSpPr>
        <p:spPr>
          <a:xfrm>
            <a:off x="7863840" y="1463040"/>
            <a:ext cx="3931920" cy="3840480"/>
          </a:xfrm>
          <a:prstGeom prst="rect">
            <a:avLst/>
          </a:prstGeom>
          <a:solidFill>
            <a:srgbClr val="0C182B"/>
          </a:solidFill>
          <a:ln w="952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6C894A-E70B-0D67-D05E-D2DA26133CF8}"/>
              </a:ext>
            </a:extLst>
          </p:cNvPr>
          <p:cNvSpPr/>
          <p:nvPr/>
        </p:nvSpPr>
        <p:spPr>
          <a:xfrm>
            <a:off x="7863840" y="1463040"/>
            <a:ext cx="3931920" cy="475488"/>
          </a:xfrm>
          <a:prstGeom prst="rect">
            <a:avLst/>
          </a:prstGeom>
          <a:solidFill>
            <a:srgbClr val="17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31B24E-C12F-F5E7-A20D-7C19476503BE}"/>
              </a:ext>
            </a:extLst>
          </p:cNvPr>
          <p:cNvSpPr txBox="1"/>
          <p:nvPr/>
        </p:nvSpPr>
        <p:spPr>
          <a:xfrm>
            <a:off x="8101584" y="1600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8B44A"/>
                </a:solidFill>
                <a:latin typeface="Helvetica Neue"/>
              </a:rPr>
              <a:t>BOARDING PASS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EDF94-48EA-287B-AE36-F2903370A954}"/>
              </a:ext>
            </a:extLst>
          </p:cNvPr>
          <p:cNvSpPr txBox="1"/>
          <p:nvPr/>
        </p:nvSpPr>
        <p:spPr>
          <a:xfrm>
            <a:off x="10332720" y="163677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88A6"/>
                </a:solidFill>
                <a:latin typeface="Menlo"/>
              </a:rPr>
              <a:t>SEQ 018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44985E-1193-B596-E03A-CB546E2F47F5}"/>
              </a:ext>
            </a:extLst>
          </p:cNvPr>
          <p:cNvSpPr txBox="1"/>
          <p:nvPr/>
        </p:nvSpPr>
        <p:spPr>
          <a:xfrm>
            <a:off x="8101584" y="21396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PROJECT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276BD2-37BB-E14D-CC9D-284394A02804}"/>
              </a:ext>
            </a:extLst>
          </p:cNvPr>
          <p:cNvSpPr txBox="1"/>
          <p:nvPr/>
        </p:nvSpPr>
        <p:spPr>
          <a:xfrm>
            <a:off x="8101584" y="23042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Airline Reservation &amp;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Flight Operations DBMS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D04D8-AADA-2449-CDDD-DB22E1569964}"/>
              </a:ext>
            </a:extLst>
          </p:cNvPr>
          <p:cNvSpPr txBox="1"/>
          <p:nvPr/>
        </p:nvSpPr>
        <p:spPr>
          <a:xfrm>
            <a:off x="8101584" y="268833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AC9D4-B831-371E-D814-01DA2F807CB1}"/>
              </a:ext>
            </a:extLst>
          </p:cNvPr>
          <p:cNvSpPr txBox="1"/>
          <p:nvPr/>
        </p:nvSpPr>
        <p:spPr>
          <a:xfrm>
            <a:off x="8101584" y="28529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Review 1 · Week 7 · 5 marks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18CCDC-919C-B291-23F3-5D47EEB66388}"/>
              </a:ext>
            </a:extLst>
          </p:cNvPr>
          <p:cNvSpPr txBox="1"/>
          <p:nvPr/>
        </p:nvSpPr>
        <p:spPr>
          <a:xfrm>
            <a:off x="8101584" y="30540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DELIVERABLE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0FE581-D1AB-1C74-6B5B-DB0B45BBF63A}"/>
              </a:ext>
            </a:extLst>
          </p:cNvPr>
          <p:cNvSpPr txBox="1"/>
          <p:nvPr/>
        </p:nvSpPr>
        <p:spPr>
          <a:xfrm>
            <a:off x="8101584" y="32186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Problem · Scope · Objectives · Users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ER design · Relational schema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526343-9682-66AC-FCF0-B35A841E0FD1}"/>
              </a:ext>
            </a:extLst>
          </p:cNvPr>
          <p:cNvSpPr txBox="1"/>
          <p:nvPr/>
        </p:nvSpPr>
        <p:spPr>
          <a:xfrm>
            <a:off x="8101584" y="360273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NORMAL FORM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7D54F9-3C30-10EB-5EC1-69CF26E6D197}"/>
              </a:ext>
            </a:extLst>
          </p:cNvPr>
          <p:cNvSpPr txBox="1"/>
          <p:nvPr/>
        </p:nvSpPr>
        <p:spPr>
          <a:xfrm>
            <a:off x="8101584" y="37673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Third Normal Form (3NF)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00CFDC-4C75-B7B7-DEBA-52D01AA4F770}"/>
              </a:ext>
            </a:extLst>
          </p:cNvPr>
          <p:cNvSpPr txBox="1"/>
          <p:nvPr/>
        </p:nvSpPr>
        <p:spPr>
          <a:xfrm>
            <a:off x="8101584" y="396849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FRONT END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82531C-CFD3-0EEE-3E38-090BE0655A64}"/>
              </a:ext>
            </a:extLst>
          </p:cNvPr>
          <p:cNvSpPr txBox="1"/>
          <p:nvPr/>
        </p:nvSpPr>
        <p:spPr>
          <a:xfrm>
            <a:off x="8101584" y="41330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0FA"/>
                </a:solidFill>
                <a:latin typeface="Helvetica Neue"/>
              </a:rPr>
              <a:t>Role-based web application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60CDA6-3C76-946E-E68E-218E7F066B52}"/>
              </a:ext>
            </a:extLst>
          </p:cNvPr>
          <p:cNvSpPr txBox="1"/>
          <p:nvPr/>
        </p:nvSpPr>
        <p:spPr>
          <a:xfrm>
            <a:off x="8101584" y="433425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7088A6"/>
                </a:solidFill>
                <a:latin typeface="Menlo"/>
              </a:rPr>
              <a:t>STATUS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2A7BA8-F26D-4185-CF59-6F585E923344}"/>
              </a:ext>
            </a:extLst>
          </p:cNvPr>
          <p:cNvSpPr txBox="1"/>
          <p:nvPr/>
        </p:nvSpPr>
        <p:spPr>
          <a:xfrm>
            <a:off x="8101584" y="449884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6EE08A"/>
                </a:solidFill>
                <a:latin typeface="Helvetica Neue"/>
              </a:rPr>
              <a:t>DESIGN FROZEN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1BACEC-058A-5BFB-36F1-C5BF8E7E8247}"/>
              </a:ext>
            </a:extLst>
          </p:cNvPr>
          <p:cNvSpPr/>
          <p:nvPr/>
        </p:nvSpPr>
        <p:spPr>
          <a:xfrm>
            <a:off x="81015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AB2728-3F69-4333-FFA8-485C67A20C57}"/>
              </a:ext>
            </a:extLst>
          </p:cNvPr>
          <p:cNvSpPr/>
          <p:nvPr/>
        </p:nvSpPr>
        <p:spPr>
          <a:xfrm>
            <a:off x="8139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BEEE2C-F1C2-EE81-4ED5-D5359D0765A9}"/>
              </a:ext>
            </a:extLst>
          </p:cNvPr>
          <p:cNvSpPr/>
          <p:nvPr/>
        </p:nvSpPr>
        <p:spPr>
          <a:xfrm>
            <a:off x="81777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716C34-C949-5866-5C4E-299EF2EE3B87}"/>
              </a:ext>
            </a:extLst>
          </p:cNvPr>
          <p:cNvSpPr/>
          <p:nvPr/>
        </p:nvSpPr>
        <p:spPr>
          <a:xfrm>
            <a:off x="82412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9A4B1-C6C2-281B-F952-CFF7D012F4E0}"/>
              </a:ext>
            </a:extLst>
          </p:cNvPr>
          <p:cNvSpPr/>
          <p:nvPr/>
        </p:nvSpPr>
        <p:spPr>
          <a:xfrm>
            <a:off x="8292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55EA00-13CB-7278-438D-745C01CE53BB}"/>
              </a:ext>
            </a:extLst>
          </p:cNvPr>
          <p:cNvSpPr/>
          <p:nvPr/>
        </p:nvSpPr>
        <p:spPr>
          <a:xfrm>
            <a:off x="83301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6D4C15-6A83-E4B3-8A3E-65BCFB0F3AB7}"/>
              </a:ext>
            </a:extLst>
          </p:cNvPr>
          <p:cNvSpPr/>
          <p:nvPr/>
        </p:nvSpPr>
        <p:spPr>
          <a:xfrm>
            <a:off x="83682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EA38FC-A58D-00EB-F58C-647B07E76DFA}"/>
              </a:ext>
            </a:extLst>
          </p:cNvPr>
          <p:cNvSpPr/>
          <p:nvPr/>
        </p:nvSpPr>
        <p:spPr>
          <a:xfrm>
            <a:off x="84317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0F61E5-662B-E1E8-C975-1A62C976E894}"/>
              </a:ext>
            </a:extLst>
          </p:cNvPr>
          <p:cNvSpPr/>
          <p:nvPr/>
        </p:nvSpPr>
        <p:spPr>
          <a:xfrm>
            <a:off x="84952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B44F8A-1D11-B1A1-7955-8B1828C7100E}"/>
              </a:ext>
            </a:extLst>
          </p:cNvPr>
          <p:cNvSpPr/>
          <p:nvPr/>
        </p:nvSpPr>
        <p:spPr>
          <a:xfrm>
            <a:off x="85333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2ABACB-8E9B-9320-F51C-ACEADA77E0E5}"/>
              </a:ext>
            </a:extLst>
          </p:cNvPr>
          <p:cNvSpPr/>
          <p:nvPr/>
        </p:nvSpPr>
        <p:spPr>
          <a:xfrm>
            <a:off x="85968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F23A0E-E650-0D39-57A9-1C09BA7E6AAD}"/>
              </a:ext>
            </a:extLst>
          </p:cNvPr>
          <p:cNvSpPr/>
          <p:nvPr/>
        </p:nvSpPr>
        <p:spPr>
          <a:xfrm>
            <a:off x="86476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D20C61-027D-E3DE-97C0-846FF015CB3B}"/>
              </a:ext>
            </a:extLst>
          </p:cNvPr>
          <p:cNvSpPr/>
          <p:nvPr/>
        </p:nvSpPr>
        <p:spPr>
          <a:xfrm>
            <a:off x="87111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67DA4F-8B83-2C6A-F430-FD58FC02AED0}"/>
              </a:ext>
            </a:extLst>
          </p:cNvPr>
          <p:cNvSpPr/>
          <p:nvPr/>
        </p:nvSpPr>
        <p:spPr>
          <a:xfrm>
            <a:off x="8761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FD4FBE-AF4E-44CF-8BBE-F179BF029E3A}"/>
              </a:ext>
            </a:extLst>
          </p:cNvPr>
          <p:cNvSpPr/>
          <p:nvPr/>
        </p:nvSpPr>
        <p:spPr>
          <a:xfrm>
            <a:off x="88000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2B4077-F516-A0C2-4762-C91A51480043}"/>
              </a:ext>
            </a:extLst>
          </p:cNvPr>
          <p:cNvSpPr/>
          <p:nvPr/>
        </p:nvSpPr>
        <p:spPr>
          <a:xfrm>
            <a:off x="88508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2F84AF-F899-4F71-7EEB-8C3C10C232C0}"/>
              </a:ext>
            </a:extLst>
          </p:cNvPr>
          <p:cNvSpPr/>
          <p:nvPr/>
        </p:nvSpPr>
        <p:spPr>
          <a:xfrm>
            <a:off x="88889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DF36F8-4617-1204-7847-60B9D1E5451B}"/>
              </a:ext>
            </a:extLst>
          </p:cNvPr>
          <p:cNvSpPr/>
          <p:nvPr/>
        </p:nvSpPr>
        <p:spPr>
          <a:xfrm>
            <a:off x="8939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9DE1AA-779E-F924-F200-0707328EA592}"/>
              </a:ext>
            </a:extLst>
          </p:cNvPr>
          <p:cNvSpPr/>
          <p:nvPr/>
        </p:nvSpPr>
        <p:spPr>
          <a:xfrm>
            <a:off x="89778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EF130A-5442-DEB1-2681-649466A856C1}"/>
              </a:ext>
            </a:extLst>
          </p:cNvPr>
          <p:cNvSpPr/>
          <p:nvPr/>
        </p:nvSpPr>
        <p:spPr>
          <a:xfrm>
            <a:off x="9015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F83FC0-54DA-4C52-EDCD-2B22F77FA98C}"/>
              </a:ext>
            </a:extLst>
          </p:cNvPr>
          <p:cNvSpPr/>
          <p:nvPr/>
        </p:nvSpPr>
        <p:spPr>
          <a:xfrm>
            <a:off x="9054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B2DDEE-9AA9-FF9F-D872-E740380C99E9}"/>
              </a:ext>
            </a:extLst>
          </p:cNvPr>
          <p:cNvSpPr/>
          <p:nvPr/>
        </p:nvSpPr>
        <p:spPr>
          <a:xfrm>
            <a:off x="90921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5B0962-11E3-708C-5D67-9A7B3B42C4E7}"/>
              </a:ext>
            </a:extLst>
          </p:cNvPr>
          <p:cNvSpPr/>
          <p:nvPr/>
        </p:nvSpPr>
        <p:spPr>
          <a:xfrm>
            <a:off x="91302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26566DB-5C97-9BA4-0881-842BD55FFF19}"/>
              </a:ext>
            </a:extLst>
          </p:cNvPr>
          <p:cNvSpPr/>
          <p:nvPr/>
        </p:nvSpPr>
        <p:spPr>
          <a:xfrm>
            <a:off x="91810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BAD03D-1298-E2DB-44C1-5866376D564C}"/>
              </a:ext>
            </a:extLst>
          </p:cNvPr>
          <p:cNvSpPr/>
          <p:nvPr/>
        </p:nvSpPr>
        <p:spPr>
          <a:xfrm>
            <a:off x="92191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7F3F8A-6E5F-36AE-97DA-A9178DB5B0FF}"/>
              </a:ext>
            </a:extLst>
          </p:cNvPr>
          <p:cNvSpPr/>
          <p:nvPr/>
        </p:nvSpPr>
        <p:spPr>
          <a:xfrm>
            <a:off x="9282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D7FAA5-DA5F-5694-2E5C-84636F88483B}"/>
              </a:ext>
            </a:extLst>
          </p:cNvPr>
          <p:cNvSpPr/>
          <p:nvPr/>
        </p:nvSpPr>
        <p:spPr>
          <a:xfrm>
            <a:off x="93207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6D8A080-3856-6750-62A7-7F620298D758}"/>
              </a:ext>
            </a:extLst>
          </p:cNvPr>
          <p:cNvSpPr/>
          <p:nvPr/>
        </p:nvSpPr>
        <p:spPr>
          <a:xfrm>
            <a:off x="93715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6AC198-EA67-06C9-9752-3A0E61AFB771}"/>
              </a:ext>
            </a:extLst>
          </p:cNvPr>
          <p:cNvSpPr/>
          <p:nvPr/>
        </p:nvSpPr>
        <p:spPr>
          <a:xfrm>
            <a:off x="94223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1988BED-081D-C0FF-4066-A02AFFB893D0}"/>
              </a:ext>
            </a:extLst>
          </p:cNvPr>
          <p:cNvSpPr/>
          <p:nvPr/>
        </p:nvSpPr>
        <p:spPr>
          <a:xfrm>
            <a:off x="94604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6569B14-572E-F254-A753-1A8B0C71331C}"/>
              </a:ext>
            </a:extLst>
          </p:cNvPr>
          <p:cNvSpPr/>
          <p:nvPr/>
        </p:nvSpPr>
        <p:spPr>
          <a:xfrm>
            <a:off x="95112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5A95EA-4E91-9D12-0524-DAE25C11AD0B}"/>
              </a:ext>
            </a:extLst>
          </p:cNvPr>
          <p:cNvSpPr/>
          <p:nvPr/>
        </p:nvSpPr>
        <p:spPr>
          <a:xfrm>
            <a:off x="9574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D0B6EF-4C3F-B46D-3BA0-20E2C0C72F60}"/>
              </a:ext>
            </a:extLst>
          </p:cNvPr>
          <p:cNvSpPr/>
          <p:nvPr/>
        </p:nvSpPr>
        <p:spPr>
          <a:xfrm>
            <a:off x="96128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30CE61-53E2-F3A8-D200-1737A6B13261}"/>
              </a:ext>
            </a:extLst>
          </p:cNvPr>
          <p:cNvSpPr/>
          <p:nvPr/>
        </p:nvSpPr>
        <p:spPr>
          <a:xfrm>
            <a:off x="96763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18B0058-8B17-DFC8-5779-541D73EC25A9}"/>
              </a:ext>
            </a:extLst>
          </p:cNvPr>
          <p:cNvSpPr/>
          <p:nvPr/>
        </p:nvSpPr>
        <p:spPr>
          <a:xfrm>
            <a:off x="97271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C6E19F4-594C-25DD-B1DF-7368AD9AC687}"/>
              </a:ext>
            </a:extLst>
          </p:cNvPr>
          <p:cNvSpPr/>
          <p:nvPr/>
        </p:nvSpPr>
        <p:spPr>
          <a:xfrm>
            <a:off x="97779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D036709-2C91-E3B4-F251-3E6BF7D17CB3}"/>
              </a:ext>
            </a:extLst>
          </p:cNvPr>
          <p:cNvSpPr/>
          <p:nvPr/>
        </p:nvSpPr>
        <p:spPr>
          <a:xfrm>
            <a:off x="9828784" y="4754880"/>
            <a:ext cx="254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086FF0-F0A7-4688-1795-E22C7FC487BD}"/>
              </a:ext>
            </a:extLst>
          </p:cNvPr>
          <p:cNvSpPr/>
          <p:nvPr/>
        </p:nvSpPr>
        <p:spPr>
          <a:xfrm>
            <a:off x="98795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3523E39-1B2F-9570-F984-007B80A5F2FC}"/>
              </a:ext>
            </a:extLst>
          </p:cNvPr>
          <p:cNvSpPr/>
          <p:nvPr/>
        </p:nvSpPr>
        <p:spPr>
          <a:xfrm>
            <a:off x="9917684" y="4754880"/>
            <a:ext cx="254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2C0A6D7-CC39-7744-53C2-1430E58DFAC1}"/>
              </a:ext>
            </a:extLst>
          </p:cNvPr>
          <p:cNvSpPr/>
          <p:nvPr/>
        </p:nvSpPr>
        <p:spPr>
          <a:xfrm>
            <a:off x="99684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10E608D-3FB6-CE9C-632B-4E25A8CBE397}"/>
              </a:ext>
            </a:extLst>
          </p:cNvPr>
          <p:cNvSpPr/>
          <p:nvPr/>
        </p:nvSpPr>
        <p:spPr>
          <a:xfrm>
            <a:off x="100319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E2F65B2-74E7-9737-ABE7-62F2DF9B04E4}"/>
              </a:ext>
            </a:extLst>
          </p:cNvPr>
          <p:cNvSpPr/>
          <p:nvPr/>
        </p:nvSpPr>
        <p:spPr>
          <a:xfrm>
            <a:off x="100700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E2672B-F11B-36B6-681F-406DF20B78B9}"/>
              </a:ext>
            </a:extLst>
          </p:cNvPr>
          <p:cNvSpPr/>
          <p:nvPr/>
        </p:nvSpPr>
        <p:spPr>
          <a:xfrm>
            <a:off x="10133584" y="4754880"/>
            <a:ext cx="127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C86BA77-BA7D-F80F-4834-8B25A03EBB71}"/>
              </a:ext>
            </a:extLst>
          </p:cNvPr>
          <p:cNvSpPr/>
          <p:nvPr/>
        </p:nvSpPr>
        <p:spPr>
          <a:xfrm>
            <a:off x="101716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400CB3A-1B10-1CA8-212F-0DAADCBD0077}"/>
              </a:ext>
            </a:extLst>
          </p:cNvPr>
          <p:cNvSpPr/>
          <p:nvPr/>
        </p:nvSpPr>
        <p:spPr>
          <a:xfrm>
            <a:off x="102097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298461-2B13-22E2-C5E0-0B93EC0A39DC}"/>
              </a:ext>
            </a:extLst>
          </p:cNvPr>
          <p:cNvSpPr/>
          <p:nvPr/>
        </p:nvSpPr>
        <p:spPr>
          <a:xfrm>
            <a:off x="10247884" y="4754880"/>
            <a:ext cx="38100" cy="237744"/>
          </a:xfrm>
          <a:prstGeom prst="rect">
            <a:avLst/>
          </a:prstGeom>
          <a:solidFill>
            <a:srgbClr val="708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17FD3AE-C979-BDE4-B34B-DB929C71DC01}"/>
              </a:ext>
            </a:extLst>
          </p:cNvPr>
          <p:cNvSpPr/>
          <p:nvPr/>
        </p:nvSpPr>
        <p:spPr>
          <a:xfrm>
            <a:off x="10311384" y="4754880"/>
            <a:ext cx="127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053A885-1F34-7A80-C650-B1334F16BCE1}"/>
              </a:ext>
            </a:extLst>
          </p:cNvPr>
          <p:cNvSpPr/>
          <p:nvPr/>
        </p:nvSpPr>
        <p:spPr>
          <a:xfrm>
            <a:off x="10349484" y="4754880"/>
            <a:ext cx="38100" cy="237744"/>
          </a:xfrm>
          <a:prstGeom prst="rect">
            <a:avLst/>
          </a:prstGeom>
          <a:solidFill>
            <a:srgbClr val="A9B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212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56B182-C2C3-38BD-61D4-2AAF7FE4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5DFA0-0355-8250-750B-FB8E9188718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C7D08-8F67-E280-A425-38819FE1F019}"/>
              </a:ext>
            </a:extLst>
          </p:cNvPr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02252-0CAA-D38B-57D7-84793CF785A9}"/>
              </a:ext>
            </a:extLst>
          </p:cNvPr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F5DE4-C105-6E1D-DC1D-F7E5BA85347F}"/>
              </a:ext>
            </a:extLst>
          </p:cNvPr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dirty="0">
                <a:solidFill>
                  <a:srgbClr val="E8B44A"/>
                </a:solidFill>
                <a:latin typeface="Menlo"/>
              </a:rPr>
              <a:t>09 · REQUIREMENTS, REPORTS &amp; NEXT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2701A-A714-A133-8F17-108032BD4CC1}"/>
              </a:ext>
            </a:extLst>
          </p:cNvPr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>
                <a:solidFill>
                  <a:srgbClr val="E9F0FA"/>
                </a:solidFill>
                <a:latin typeface="Helvetica Neue"/>
              </a:rPr>
              <a:t>What we build </a:t>
            </a:r>
            <a:r>
              <a:rPr sz="3100" b="1" dirty="0">
                <a:solidFill>
                  <a:srgbClr val="E8B44A"/>
                </a:solidFill>
                <a:latin typeface="Helvetica Neue"/>
              </a:rPr>
              <a:t>from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819E2-F946-27D7-BFD3-4B4080A06B48}"/>
              </a:ext>
            </a:extLst>
          </p:cNvPr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9C6B9-8ED3-A5B0-C686-3CAFB5B3C22C}"/>
              </a:ext>
            </a:extLst>
          </p:cNvPr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38126A-6E09-528B-7D74-CEDA2038BBA5}"/>
              </a:ext>
            </a:extLst>
          </p:cNvPr>
          <p:cNvSpPr/>
          <p:nvPr/>
        </p:nvSpPr>
        <p:spPr>
          <a:xfrm>
            <a:off x="566928" y="1810512"/>
            <a:ext cx="3520440" cy="251460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71451-082B-78F4-F9EB-40096B17EB89}"/>
              </a:ext>
            </a:extLst>
          </p:cNvPr>
          <p:cNvSpPr/>
          <p:nvPr/>
        </p:nvSpPr>
        <p:spPr>
          <a:xfrm>
            <a:off x="566928" y="1810512"/>
            <a:ext cx="3520440" cy="3048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EA7C7-622C-810D-4127-64176F3916EF}"/>
              </a:ext>
            </a:extLst>
          </p:cNvPr>
          <p:cNvSpPr txBox="1"/>
          <p:nvPr/>
        </p:nvSpPr>
        <p:spPr>
          <a:xfrm>
            <a:off x="768096" y="199339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CBFF"/>
                </a:solidFill>
                <a:latin typeface="Menlo"/>
              </a:rPr>
              <a:t>FUNCTIONAL REQUIREMENTS · 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7B04C-F77F-8428-9D3B-39A18388592F}"/>
              </a:ext>
            </a:extLst>
          </p:cNvPr>
          <p:cNvSpPr txBox="1"/>
          <p:nvPr/>
        </p:nvSpPr>
        <p:spPr>
          <a:xfrm>
            <a:off x="768096" y="2267712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CE739-0929-A74E-4284-D0DB221D31EB}"/>
              </a:ext>
            </a:extLst>
          </p:cNvPr>
          <p:cNvSpPr txBox="1"/>
          <p:nvPr/>
        </p:nvSpPr>
        <p:spPr>
          <a:xfrm>
            <a:off x="950976" y="2253996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Maintain airports, routes, fleet and seat maps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DB1A6-04A1-79A2-2970-E3A3B3A1A64D}"/>
              </a:ext>
            </a:extLst>
          </p:cNvPr>
          <p:cNvSpPr txBox="1"/>
          <p:nvPr/>
        </p:nvSpPr>
        <p:spPr>
          <a:xfrm>
            <a:off x="768096" y="248259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C94FB-0DEA-610D-BEAD-3929B55604A5}"/>
              </a:ext>
            </a:extLst>
          </p:cNvPr>
          <p:cNvSpPr txBox="1"/>
          <p:nvPr/>
        </p:nvSpPr>
        <p:spPr>
          <a:xfrm>
            <a:off x="950976" y="246888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Publish flights and fares per cabin class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6879A-1E66-0F3F-8747-13FBCB7AABCA}"/>
              </a:ext>
            </a:extLst>
          </p:cNvPr>
          <p:cNvSpPr txBox="1"/>
          <p:nvPr/>
        </p:nvSpPr>
        <p:spPr>
          <a:xfrm>
            <a:off x="768096" y="269748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96253-753E-06DA-B3C0-F619996F7561}"/>
              </a:ext>
            </a:extLst>
          </p:cNvPr>
          <p:cNvSpPr txBox="1"/>
          <p:nvPr/>
        </p:nvSpPr>
        <p:spPr>
          <a:xfrm>
            <a:off x="950976" y="2683764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 dirty="0">
                <a:solidFill>
                  <a:srgbClr val="A9BDD6"/>
                </a:solidFill>
                <a:latin typeface="Helvetica Neue"/>
              </a:rPr>
              <a:t>Search flights and create a PNR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F4A66-A857-2176-C29F-04B60243960E}"/>
              </a:ext>
            </a:extLst>
          </p:cNvPr>
          <p:cNvSpPr txBox="1"/>
          <p:nvPr/>
        </p:nvSpPr>
        <p:spPr>
          <a:xfrm>
            <a:off x="768096" y="291236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A1480-000A-EB53-2960-510A8A16F524}"/>
              </a:ext>
            </a:extLst>
          </p:cNvPr>
          <p:cNvSpPr txBox="1"/>
          <p:nvPr/>
        </p:nvSpPr>
        <p:spPr>
          <a:xfrm>
            <a:off x="950976" y="289864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 dirty="0">
                <a:solidFill>
                  <a:srgbClr val="A9BDD6"/>
                </a:solidFill>
                <a:latin typeface="Helvetica Neue"/>
              </a:rPr>
              <a:t>Allocate a seat with no double allocation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40C5E-4B77-A34D-048E-8FC7B00F8988}"/>
              </a:ext>
            </a:extLst>
          </p:cNvPr>
          <p:cNvSpPr txBox="1"/>
          <p:nvPr/>
        </p:nvSpPr>
        <p:spPr>
          <a:xfrm>
            <a:off x="768096" y="312724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8B9326-D346-DC0E-FA95-F9F756C604A4}"/>
              </a:ext>
            </a:extLst>
          </p:cNvPr>
          <p:cNvSpPr txBox="1"/>
          <p:nvPr/>
        </p:nvSpPr>
        <p:spPr>
          <a:xfrm>
            <a:off x="950976" y="3113532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Issue tickets once payment covers the total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DDB027-7E98-B5AA-DFDF-AE88C6B858A8}"/>
              </a:ext>
            </a:extLst>
          </p:cNvPr>
          <p:cNvSpPr txBox="1"/>
          <p:nvPr/>
        </p:nvSpPr>
        <p:spPr>
          <a:xfrm>
            <a:off x="768096" y="3342132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EA8C8F-0BEA-A2BD-5373-3A10FC255C67}"/>
              </a:ext>
            </a:extLst>
          </p:cNvPr>
          <p:cNvSpPr txBox="1"/>
          <p:nvPr/>
        </p:nvSpPr>
        <p:spPr>
          <a:xfrm>
            <a:off x="950976" y="3328416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Check in, board, accept and tag baggage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3CDA06-DE71-639A-8518-AB9CA478E495}"/>
              </a:ext>
            </a:extLst>
          </p:cNvPr>
          <p:cNvSpPr txBox="1"/>
          <p:nvPr/>
        </p:nvSpPr>
        <p:spPr>
          <a:xfrm>
            <a:off x="768096" y="355701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19BD0E-9645-6E9C-021F-C4F87D900A66}"/>
              </a:ext>
            </a:extLst>
          </p:cNvPr>
          <p:cNvSpPr txBox="1"/>
          <p:nvPr/>
        </p:nvSpPr>
        <p:spPr>
          <a:xfrm>
            <a:off x="950976" y="354330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Cancel, refund and release the seat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F8689D-0402-F381-75D9-327469D463A7}"/>
              </a:ext>
            </a:extLst>
          </p:cNvPr>
          <p:cNvSpPr txBox="1"/>
          <p:nvPr/>
        </p:nvSpPr>
        <p:spPr>
          <a:xfrm>
            <a:off x="768096" y="377190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F97CA6-F8A2-ABE2-2965-8A465FED971C}"/>
              </a:ext>
            </a:extLst>
          </p:cNvPr>
          <p:cNvSpPr txBox="1"/>
          <p:nvPr/>
        </p:nvSpPr>
        <p:spPr>
          <a:xfrm>
            <a:off x="950976" y="3758184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Authorise every section by role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DCF213-7C58-A83B-B0B2-4B502DC737DD}"/>
              </a:ext>
            </a:extLst>
          </p:cNvPr>
          <p:cNvSpPr txBox="1"/>
          <p:nvPr/>
        </p:nvSpPr>
        <p:spPr>
          <a:xfrm>
            <a:off x="768096" y="398678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4AA8FF"/>
                </a:solidFill>
                <a:latin typeface="Menlo"/>
              </a:rPr>
              <a:t>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5A72D7-4F89-A064-78A5-904C5079188B}"/>
              </a:ext>
            </a:extLst>
          </p:cNvPr>
          <p:cNvSpPr txBox="1"/>
          <p:nvPr/>
        </p:nvSpPr>
        <p:spPr>
          <a:xfrm>
            <a:off x="950976" y="397306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A9BDD6"/>
                </a:solidFill>
                <a:latin typeface="Helvetica Neue"/>
              </a:rPr>
              <a:t>Validate input at app and database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2EC9D8-43B0-A4E2-51C7-9DBA43E3A63B}"/>
              </a:ext>
            </a:extLst>
          </p:cNvPr>
          <p:cNvSpPr/>
          <p:nvPr/>
        </p:nvSpPr>
        <p:spPr>
          <a:xfrm>
            <a:off x="4334256" y="1810512"/>
            <a:ext cx="3520440" cy="251460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D67D13-9765-FEA2-7D7E-0EF75C1EDC15}"/>
              </a:ext>
            </a:extLst>
          </p:cNvPr>
          <p:cNvSpPr/>
          <p:nvPr/>
        </p:nvSpPr>
        <p:spPr>
          <a:xfrm>
            <a:off x="4334256" y="1810512"/>
            <a:ext cx="3520440" cy="30480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48A538-F145-C8EF-1ACC-FBE0CEE809EF}"/>
              </a:ext>
            </a:extLst>
          </p:cNvPr>
          <p:cNvSpPr txBox="1"/>
          <p:nvPr/>
        </p:nvSpPr>
        <p:spPr>
          <a:xfrm>
            <a:off x="4535424" y="199339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EE08A"/>
                </a:solidFill>
                <a:latin typeface="Menlo"/>
              </a:rPr>
              <a:t>REPORTS PLANNED · 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A274A6-E8EB-650D-EEC3-F4A5D788D99D}"/>
              </a:ext>
            </a:extLst>
          </p:cNvPr>
          <p:cNvSpPr txBox="1"/>
          <p:nvPr/>
        </p:nvSpPr>
        <p:spPr>
          <a:xfrm>
            <a:off x="4535424" y="233172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Flight manifest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1F984B-931A-11D9-171B-A28EFCB558F1}"/>
              </a:ext>
            </a:extLst>
          </p:cNvPr>
          <p:cNvSpPr txBox="1"/>
          <p:nvPr/>
        </p:nvSpPr>
        <p:spPr>
          <a:xfrm>
            <a:off x="6537960" y="234086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multi-table joins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377C6F-6932-2581-0DC3-F5F8F5E931D8}"/>
              </a:ext>
            </a:extLst>
          </p:cNvPr>
          <p:cNvSpPr txBox="1"/>
          <p:nvPr/>
        </p:nvSpPr>
        <p:spPr>
          <a:xfrm>
            <a:off x="4535424" y="255574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Occupancy &amp; load 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69799B-E9B9-7CEF-637E-79C975811858}"/>
              </a:ext>
            </a:extLst>
          </p:cNvPr>
          <p:cNvSpPr txBox="1"/>
          <p:nvPr/>
        </p:nvSpPr>
        <p:spPr>
          <a:xfrm>
            <a:off x="6537960" y="256489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COUNT, GROUP BY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A5FDEC-6CEB-6EB4-1938-4DC1A1B0279C}"/>
              </a:ext>
            </a:extLst>
          </p:cNvPr>
          <p:cNvSpPr txBox="1"/>
          <p:nvPr/>
        </p:nvSpPr>
        <p:spPr>
          <a:xfrm>
            <a:off x="4535424" y="277977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Route demand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5AF1E-55B7-BB2D-7B84-191E782EBA05}"/>
              </a:ext>
            </a:extLst>
          </p:cNvPr>
          <p:cNvSpPr txBox="1"/>
          <p:nvPr/>
        </p:nvSpPr>
        <p:spPr>
          <a:xfrm>
            <a:off x="6537960" y="278892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GROUP BY + HAVING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036CA0-FB93-4E97-FEFC-6BAA477430AC}"/>
              </a:ext>
            </a:extLst>
          </p:cNvPr>
          <p:cNvSpPr txBox="1"/>
          <p:nvPr/>
        </p:nvSpPr>
        <p:spPr>
          <a:xfrm>
            <a:off x="4535424" y="3003804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Baggage summary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57FB7-A984-8DE6-FA27-F8AA35CD7EA4}"/>
              </a:ext>
            </a:extLst>
          </p:cNvPr>
          <p:cNvSpPr txBox="1"/>
          <p:nvPr/>
        </p:nvSpPr>
        <p:spPr>
          <a:xfrm>
            <a:off x="6537960" y="301294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SUM, NOT EXISTS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8F645B-8FBE-BAFB-DEF3-2C409FB711A5}"/>
              </a:ext>
            </a:extLst>
          </p:cNvPr>
          <p:cNvSpPr txBox="1"/>
          <p:nvPr/>
        </p:nvSpPr>
        <p:spPr>
          <a:xfrm>
            <a:off x="4535424" y="322783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Cancellation &amp; refund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E85B51-0747-FD0B-EA9A-BF805550B449}"/>
              </a:ext>
            </a:extLst>
          </p:cNvPr>
          <p:cNvSpPr txBox="1"/>
          <p:nvPr/>
        </p:nvSpPr>
        <p:spPr>
          <a:xfrm>
            <a:off x="6537960" y="323697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correlated subquery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F6A24A-E39B-1FCE-3202-740D6BE7C66B}"/>
              </a:ext>
            </a:extLst>
          </p:cNvPr>
          <p:cNvSpPr txBox="1"/>
          <p:nvPr/>
        </p:nvSpPr>
        <p:spPr>
          <a:xfrm>
            <a:off x="4535424" y="345186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On-time performance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933BC7-8AF8-2220-774F-386A4D8AD86C}"/>
              </a:ext>
            </a:extLst>
          </p:cNvPr>
          <p:cNvSpPr txBox="1"/>
          <p:nvPr/>
        </p:nvSpPr>
        <p:spPr>
          <a:xfrm>
            <a:off x="6537960" y="346100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CASE, AVG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44E614-2A4C-1576-5335-B74D2B919F1B}"/>
              </a:ext>
            </a:extLst>
          </p:cNvPr>
          <p:cNvSpPr txBox="1"/>
          <p:nvPr/>
        </p:nvSpPr>
        <p:spPr>
          <a:xfrm>
            <a:off x="4535424" y="3675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Revenue statement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FEBD5E-BC06-94B0-AD2A-01125D997019}"/>
              </a:ext>
            </a:extLst>
          </p:cNvPr>
          <p:cNvSpPr txBox="1"/>
          <p:nvPr/>
        </p:nvSpPr>
        <p:spPr>
          <a:xfrm>
            <a:off x="6537960" y="368503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nested aggregate + UNION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969188-970C-5B2F-1CA0-194A4ED3831C}"/>
              </a:ext>
            </a:extLst>
          </p:cNvPr>
          <p:cNvSpPr txBox="1"/>
          <p:nvPr/>
        </p:nvSpPr>
        <p:spPr>
          <a:xfrm>
            <a:off x="4535424" y="389991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E9F0FA"/>
                </a:solidFill>
                <a:latin typeface="Helvetica Neue"/>
              </a:rPr>
              <a:t>▸ Passenger travel history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0B89A5-EE7E-DD8C-FEC6-A4D7F5B2005C}"/>
              </a:ext>
            </a:extLst>
          </p:cNvPr>
          <p:cNvSpPr txBox="1"/>
          <p:nvPr/>
        </p:nvSpPr>
        <p:spPr>
          <a:xfrm>
            <a:off x="6537960" y="390906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0">
                <a:solidFill>
                  <a:srgbClr val="7088A6"/>
                </a:solidFill>
                <a:latin typeface="Menlo"/>
              </a:rPr>
              <a:t>view with row predicate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8C6D84-9797-5ACB-A9B2-A40553417631}"/>
              </a:ext>
            </a:extLst>
          </p:cNvPr>
          <p:cNvSpPr/>
          <p:nvPr/>
        </p:nvSpPr>
        <p:spPr>
          <a:xfrm>
            <a:off x="8101583" y="1810512"/>
            <a:ext cx="3529584" cy="251460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2E8588-D409-0E64-4198-79A12C2A2DA8}"/>
              </a:ext>
            </a:extLst>
          </p:cNvPr>
          <p:cNvSpPr/>
          <p:nvPr/>
        </p:nvSpPr>
        <p:spPr>
          <a:xfrm>
            <a:off x="8101583" y="1810512"/>
            <a:ext cx="3529584" cy="30480"/>
          </a:xfrm>
          <a:prstGeom prst="rect">
            <a:avLst/>
          </a:prstGeom>
          <a:solidFill>
            <a:srgbClr val="B5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8A24C7-9156-FE27-AB60-6F759775DC05}"/>
              </a:ext>
            </a:extLst>
          </p:cNvPr>
          <p:cNvSpPr txBox="1"/>
          <p:nvPr/>
        </p:nvSpPr>
        <p:spPr>
          <a:xfrm>
            <a:off x="8302752" y="199339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8CE0"/>
                </a:solidFill>
                <a:latin typeface="Menlo"/>
              </a:rPr>
              <a:t>THE TARGET APPLICATION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06575A-F9C8-5ED4-DB99-95FF8841332A}"/>
              </a:ext>
            </a:extLst>
          </p:cNvPr>
          <p:cNvSpPr txBox="1"/>
          <p:nvPr/>
        </p:nvSpPr>
        <p:spPr>
          <a:xfrm>
            <a:off x="8302752" y="2304288"/>
            <a:ext cx="314553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A Python (Flask) web application over the same schema. On login the app reads ROLE_PERMISSION for the signed-in user and renders only the sections that role holds — booking desk, departure control, operations board, schedule builder, revenue, or user administration. Every route is guarded server-side; the database GRANTs are the second line, so a forged request still cannot read another passenger's PNR.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CEC109-621C-F4F5-C16D-CC1E5E17BE5D}"/>
              </a:ext>
            </a:extLst>
          </p:cNvPr>
          <p:cNvSpPr/>
          <p:nvPr/>
        </p:nvSpPr>
        <p:spPr>
          <a:xfrm>
            <a:off x="566928" y="4462272"/>
            <a:ext cx="11064240" cy="585216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03D2C6-5DCB-83ED-AE88-E90BD4824337}"/>
              </a:ext>
            </a:extLst>
          </p:cNvPr>
          <p:cNvSpPr/>
          <p:nvPr/>
        </p:nvSpPr>
        <p:spPr>
          <a:xfrm>
            <a:off x="566928" y="4462272"/>
            <a:ext cx="33020" cy="585216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A73B98-C964-2F12-2EE3-70D919C4D3DB}"/>
              </a:ext>
            </a:extLst>
          </p:cNvPr>
          <p:cNvSpPr txBox="1"/>
          <p:nvPr/>
        </p:nvSpPr>
        <p:spPr>
          <a:xfrm>
            <a:off x="768096" y="454456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8B44A"/>
                </a:solidFill>
                <a:latin typeface="Menlo"/>
              </a:rPr>
              <a:t>WEEK 7 · NOW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89B8C5-5D7F-D574-7364-88CBA88C8E18}"/>
              </a:ext>
            </a:extLst>
          </p:cNvPr>
          <p:cNvSpPr txBox="1"/>
          <p:nvPr/>
        </p:nvSpPr>
        <p:spPr>
          <a:xfrm>
            <a:off x="768096" y="474573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A"/>
                </a:solidFill>
                <a:latin typeface="Helvetica Neue"/>
              </a:rPr>
              <a:t>Review 1 — Conceptual design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0BACFB-B682-D84A-C69E-105459AC70F2}"/>
              </a:ext>
            </a:extLst>
          </p:cNvPr>
          <p:cNvSpPr txBox="1"/>
          <p:nvPr/>
        </p:nvSpPr>
        <p:spPr>
          <a:xfrm>
            <a:off x="3337560" y="457200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Problem, scope, objectives, users · ER diagram · initial relational schema · cardinality and associative entities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9EB51A-DC8E-24C2-B053-1A5168B0CBFE}"/>
              </a:ext>
            </a:extLst>
          </p:cNvPr>
          <p:cNvSpPr/>
          <p:nvPr/>
        </p:nvSpPr>
        <p:spPr>
          <a:xfrm>
            <a:off x="566928" y="5102352"/>
            <a:ext cx="11064240" cy="585216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06DBF99-A38A-EA09-FAB8-79DBA1A4158A}"/>
              </a:ext>
            </a:extLst>
          </p:cNvPr>
          <p:cNvSpPr/>
          <p:nvPr/>
        </p:nvSpPr>
        <p:spPr>
          <a:xfrm>
            <a:off x="566928" y="5102352"/>
            <a:ext cx="33020" cy="585216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A20706-9AB8-C5F5-CAA9-18A8AF48E575}"/>
              </a:ext>
            </a:extLst>
          </p:cNvPr>
          <p:cNvSpPr txBox="1"/>
          <p:nvPr/>
        </p:nvSpPr>
        <p:spPr>
          <a:xfrm>
            <a:off x="768096" y="518464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AA8FF"/>
                </a:solidFill>
                <a:latin typeface="Menlo"/>
              </a:rPr>
              <a:t>WEEKS 8–11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9D7489-8A43-3316-113E-9C229AC68528}"/>
              </a:ext>
            </a:extLst>
          </p:cNvPr>
          <p:cNvSpPr txBox="1"/>
          <p:nvPr/>
        </p:nvSpPr>
        <p:spPr>
          <a:xfrm>
            <a:off x="768096" y="538581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A"/>
                </a:solidFill>
                <a:latin typeface="Helvetica Neue"/>
              </a:rPr>
              <a:t>Review 2 — Database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B1B4BB-F7D8-1743-3490-6D45EE1C99BC}"/>
              </a:ext>
            </a:extLst>
          </p:cNvPr>
          <p:cNvSpPr txBox="1"/>
          <p:nvPr/>
        </p:nvSpPr>
        <p:spPr>
          <a:xfrm>
            <a:off x="3337560" y="521208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Full FD list and data dictionary · DDL with all constraints and triggers · sp_book_seat / sp_check_in / sp_cancel_ticket · sample data · the eight report views · the seat race demonstrated in two live sessions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6DF527D-E858-B3EF-DD50-DE43EE12CFBF}"/>
              </a:ext>
            </a:extLst>
          </p:cNvPr>
          <p:cNvSpPr/>
          <p:nvPr/>
        </p:nvSpPr>
        <p:spPr>
          <a:xfrm>
            <a:off x="566928" y="5742432"/>
            <a:ext cx="11064240" cy="585216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22706C6-EFC9-8C30-F2A8-E7BF85212F0E}"/>
              </a:ext>
            </a:extLst>
          </p:cNvPr>
          <p:cNvSpPr/>
          <p:nvPr/>
        </p:nvSpPr>
        <p:spPr>
          <a:xfrm>
            <a:off x="566928" y="5742432"/>
            <a:ext cx="33020" cy="585216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718A86-33BE-1226-3974-DAAD24E10BCB}"/>
              </a:ext>
            </a:extLst>
          </p:cNvPr>
          <p:cNvSpPr txBox="1"/>
          <p:nvPr/>
        </p:nvSpPr>
        <p:spPr>
          <a:xfrm>
            <a:off x="768096" y="582472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EE08A"/>
                </a:solidFill>
                <a:latin typeface="Menlo"/>
              </a:rPr>
              <a:t>WEEKS 12–16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8525AB-3F95-A639-562E-B66ACB0028DE}"/>
              </a:ext>
            </a:extLst>
          </p:cNvPr>
          <p:cNvSpPr txBox="1"/>
          <p:nvPr/>
        </p:nvSpPr>
        <p:spPr>
          <a:xfrm>
            <a:off x="768096" y="602589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E9F0FA"/>
                </a:solidFill>
                <a:latin typeface="Helvetica Neue"/>
              </a:rPr>
              <a:t>Review 3 — Application &amp; viva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CF1E15-61BA-969D-649F-0959B06D54E3}"/>
              </a:ext>
            </a:extLst>
          </p:cNvPr>
          <p:cNvSpPr txBox="1"/>
          <p:nvPr/>
        </p:nvSpPr>
        <p:spPr>
          <a:xfrm>
            <a:off x="3337560" y="585216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A9BDD6"/>
                </a:solidFill>
                <a:latin typeface="Helvetica Neue"/>
              </a:rPr>
              <a:t>Flask app with role-based sections · CRUD, search, validation, reporting, error handling · test log covering every boundary case · source, script, screens, report, viva</a:t>
            </a:r>
          </a:p>
        </p:txBody>
      </p:sp>
    </p:spTree>
    <p:extLst>
      <p:ext uri="{BB962C8B-B14F-4D97-AF65-F5344CB8AC3E}">
        <p14:creationId xmlns:p14="http://schemas.microsoft.com/office/powerpoint/2010/main" val="27529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05 · CARDINALITY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Cardinality, participation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&amp; associative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9BDD6"/>
                </a:solidFill>
                <a:latin typeface="Helvetica Neue"/>
              </a:rPr>
              <a:t>Total participation becomes a NOT NULL foreign key; partial becomes a nullable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11064240" cy="310896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401316"/>
            <a:ext cx="11064240" cy="12700"/>
          </a:xfrm>
          <a:prstGeom prst="rect">
            <a:avLst/>
          </a:prstGeom>
          <a:solidFill>
            <a:srgbClr val="2C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71700"/>
            <a:ext cx="2887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2111" y="2171700"/>
            <a:ext cx="199516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CARDINALITY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576" y="2171700"/>
            <a:ext cx="18167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PARTICIPATION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6586" y="2171700"/>
            <a:ext cx="37797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WHERE THE FOREIGN KEY LIVES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712720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464308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AIRPORT — ROUTE (origin / dest)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2111" y="2464308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576" y="2464308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6586" y="2464308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ROUTE.origin_airport_id, dest_airport_id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20340"/>
            <a:ext cx="11064240" cy="30632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019044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2770632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ROUTE — FLIGHT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111" y="2770632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576" y="2770632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6586" y="2770632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FLIGHT.route_id NOT NULL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325368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076956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AIRCRAFT_TYPE — AIRCRAFT — FLIGHT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2111" y="3076956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N :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576" y="3076956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Total :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6586" y="3076956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AIRCRAFT.type_id, FLIGHT.aircraft_id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332988"/>
            <a:ext cx="11064240" cy="30632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3631692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3383280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AIRCRAFT_TYPE — SEAT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2111" y="3383280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3576" y="3383280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Total : 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6586" y="3383280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SEAT.type_id — the map belongs to the type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938016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689604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FLIGHT — CABIN_CLASS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2111" y="3689604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M : N → FARE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576" y="3689604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Total : 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6586" y="3689604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FKs in FARE 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945636"/>
            <a:ext cx="11064240" cy="30632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4244340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3995928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BOOKING × PASSENGER × FLIGHT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92111" y="3995928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M : N : N → TICKET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3576" y="3995928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Total : Total : Partial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6586" y="3995928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FKs in TICKET 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550664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302252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SEAT — TICKET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92111" y="4302252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0..1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3576" y="4302252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Partial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6586" y="4302252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TICKET.seat_id NULL-able + UNIQUE(flight, seat)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558284"/>
            <a:ext cx="11064240" cy="30632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4856988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608576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TICKET — CHECK_IN — BAGGAGE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2111" y="4608576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0..1 : 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33576" y="4608576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6586" y="4608576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CHECK_IN.ticket_id UNIQUE 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163312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4914900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TICKET — CANCELLATION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92111" y="4914900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0..1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33576" y="4914900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Total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96586" y="4914900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CANCELLATION.ticket_id UNIQUE 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170932"/>
            <a:ext cx="11064240" cy="306324"/>
          </a:xfrm>
          <a:prstGeom prst="rect">
            <a:avLst/>
          </a:prstGeom>
          <a:solidFill>
            <a:srgbClr val="091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6928" y="5469636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8368" y="5221224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BOOKING — PAYMENT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92111" y="5221224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1 : 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33576" y="5221224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Partial : 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6586" y="5221224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PAYMENT.booking_id NOT NULL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775960"/>
            <a:ext cx="11064240" cy="762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8368" y="5527548"/>
            <a:ext cx="2887439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1" i="0">
                <a:solidFill>
                  <a:srgbClr val="E9F0FA"/>
                </a:solidFill>
                <a:latin typeface="Helvetica Neue"/>
              </a:rPr>
              <a:t>ROLE — PERMISSION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92111" y="5527548"/>
            <a:ext cx="1995161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FFD98A"/>
                </a:solidFill>
                <a:latin typeface="Menlo"/>
              </a:rPr>
              <a:t>M : N → ROLE_PERMISSION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3576" y="5527548"/>
            <a:ext cx="181670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B58CE0"/>
                </a:solidFill>
                <a:latin typeface="Helvetica Neue"/>
              </a:rPr>
              <a:t>Total : Total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96586" y="5527548"/>
            <a:ext cx="3779716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60" b="0" i="0">
                <a:solidFill>
                  <a:srgbClr val="8FCBFF"/>
                </a:solidFill>
                <a:latin typeface="Menlo"/>
              </a:rPr>
              <a:t>FKs in ROLE_PERMISSION 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852160"/>
            <a:ext cx="11064240" cy="475488"/>
          </a:xfrm>
          <a:prstGeom prst="rect">
            <a:avLst/>
          </a:prstGeom>
          <a:solidFill>
            <a:srgbClr val="101F37"/>
          </a:solidFill>
          <a:ln w="10160">
            <a:solidFill>
              <a:srgbClr val="6E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4672" y="5943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1" i="0">
                <a:solidFill>
                  <a:srgbClr val="6EE08A"/>
                </a:solidFill>
                <a:latin typeface="Helvetica Neue"/>
              </a:rPr>
              <a:t>FIVE ASSOCIATIVE ENTITIES  ·  TICKET (ternary M:N + optional seat)  ·  FARE (flight × class, carries price)  ·  CHECK_IN and CANCELLATION (1:1 events with their own attributes)  ·  ROLE_PERMISSION (role × permission)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06 · RELATIONAL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Nineteen relations,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normalised to 3NF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3520440" cy="96012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33020" cy="96012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AA8FF"/>
                </a:solidFill>
                <a:latin typeface="Menlo"/>
              </a:rPr>
              <a:t>1NF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A9BDD6"/>
                </a:solidFill>
                <a:latin typeface="Helvetica Neue"/>
              </a:rPr>
              <a:t>Repeating passenger / seat / bag groups on one booking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957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6EE08A"/>
                </a:solidFill>
                <a:latin typeface="Helvetica Neue"/>
              </a:rPr>
              <a:t>✔ Split into TICKET and BAGGAGE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783080"/>
            <a:ext cx="3520440" cy="96012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1783080"/>
            <a:ext cx="33020" cy="960120"/>
          </a:xfrm>
          <a:prstGeom prst="rect">
            <a:avLst/>
          </a:prstGeom>
          <a:solidFill>
            <a:srgbClr val="B5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8CE0"/>
                </a:solidFill>
                <a:latin typeface="Menlo"/>
              </a:rPr>
              <a:t>2NF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2024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A9BDD6"/>
                </a:solidFill>
                <a:latin typeface="Helvetica Neue"/>
              </a:rPr>
              <a:t>(flight_no, dep_date) → flight details; passport_no → passenger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957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6EE08A"/>
                </a:solidFill>
                <a:latin typeface="Helvetica Neue"/>
              </a:rPr>
              <a:t>✔ Extract FLIGHT, PASSENGER, SEAT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1783080"/>
            <a:ext cx="3520440" cy="960120"/>
          </a:xfrm>
          <a:prstGeom prst="rect">
            <a:avLst/>
          </a:prstGeom>
          <a:solidFill>
            <a:srgbClr val="0C182B"/>
          </a:solidFill>
          <a:ln w="889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1783080"/>
            <a:ext cx="33020" cy="96012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192024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B44A"/>
                </a:solidFill>
                <a:latin typeface="Menlo"/>
              </a:rPr>
              <a:t>3NF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192024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A9BDD6"/>
                </a:solidFill>
                <a:latin typeface="Helvetica Neue"/>
              </a:rPr>
              <a:t>flight → aircraft → type → model, capacity  ·  route → airport → 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3957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6EE08A"/>
                </a:solidFill>
                <a:latin typeface="Helvetica Neue"/>
              </a:rPr>
              <a:t>✔ Extract AIRCRAFT_TYPE, AIRPORT, CABIN_CLASS, FARE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880360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2880360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2912364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E8B44A"/>
                </a:solidFill>
                <a:latin typeface="Menlo"/>
              </a:rPr>
              <a:t>AIRPORT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0896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airport_id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19125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iata_code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27355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airport_name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35584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city / country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4381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tz_offset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8064" y="2880360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98064" y="2880360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9504" y="2912364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E8B44A"/>
                </a:solidFill>
                <a:latin typeface="Menlo"/>
              </a:rPr>
              <a:t>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9504" y="310896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route_id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9504" y="319125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origin_airport_id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327355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dest_airport_id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9504" y="335584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distance_km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9504" y="34381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(origin, dest)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2880360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0" y="2880360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0" y="2912364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E8B44A"/>
                </a:solidFill>
                <a:latin typeface="Menlo"/>
              </a:rPr>
              <a:t>AIRCRAFT_TYPE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10896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type_id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19125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model_code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27355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manufacturer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335584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total_capacity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0336" y="2880360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60336" y="2880360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51776" y="2912364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E8B44A"/>
                </a:solidFill>
                <a:latin typeface="Menlo"/>
              </a:rPr>
              <a:t>AIRCRAFT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1776" y="310896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aircraft_id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51776" y="319125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tail_number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51776" y="327355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type_id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1776" y="335584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ac_status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91472" y="2880360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491472" y="2880360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82912" y="2912364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4AA8FF"/>
                </a:solidFill>
                <a:latin typeface="Menlo"/>
              </a:rPr>
              <a:t>CABIN_CLASS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310896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class_code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82912" y="319125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class_name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2912" y="327355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free_bag_kg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2912" y="335584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priority_rank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6928" y="3666744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3698748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4AA8FF"/>
                </a:solidFill>
                <a:latin typeface="Menlo"/>
              </a:rPr>
              <a:t>SEAT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38953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seat_id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397764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type_id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405993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seat_no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14223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class_code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42245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(type_id, seat_no)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98064" y="3666744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798064" y="3666744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889504" y="3698748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4AA8FF"/>
                </a:solidFill>
                <a:latin typeface="Menlo"/>
              </a:rPr>
              <a:t>FLIGHT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9504" y="38953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flight_id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9504" y="397764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route_id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9504" y="405993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aircraft_id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9504" y="414223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sched &amp; actual times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89504" y="42245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gate / status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9504" y="43068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(flight_no, dep_date)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0" y="3666744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29200" y="3666744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20640" y="3698748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4AA8FF"/>
                </a:solidFill>
                <a:latin typeface="Menlo"/>
              </a:rPr>
              <a:t>FARE 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0" y="38953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fare_id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20640" y="397764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flight_id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0640" y="405993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class_code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0" y="414223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base_fare / taxes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42245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refundable / cancel_fee_pct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60336" y="3666744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260336" y="3666744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351776" y="3698748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B58CE0"/>
                </a:solidFill>
                <a:latin typeface="Menlo"/>
              </a:rPr>
              <a:t>PASSENGER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51776" y="38953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passenger_id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51776" y="397764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passport_no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51776" y="405993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name / dob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51776" y="414223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nationality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1776" y="42245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email / phone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491472" y="3666744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491472" y="3666744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582912" y="3698748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B58CE0"/>
                </a:solidFill>
                <a:latin typeface="Menlo"/>
              </a:rPr>
              <a:t>BOOKING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82912" y="389534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booking_id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82912" y="397764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pnr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82912" y="405993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lead_passenger_id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82912" y="414223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created_by_user_id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82912" y="42245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status / total_amount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4453128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66928" y="4453128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368" y="448513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6EE08A"/>
                </a:solidFill>
                <a:latin typeface="Menlo"/>
              </a:rPr>
              <a:t>TICKET ◆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" y="46817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ticket_id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8368" y="47640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ticket_no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8368" y="484632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booking / flight / passenger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8368" y="492861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seat_id (NULL) · fare_id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" y="50109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(flight, passenger)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68" y="509320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(flight, seat)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98064" y="4453128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798064" y="4453128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889504" y="448513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6EE08A"/>
                </a:solidFill>
                <a:latin typeface="Menlo"/>
              </a:rPr>
              <a:t>CHECK_IN 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889504" y="46817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checkin_id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89504" y="47640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ticket_id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89504" y="484632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checkin_ts / method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89504" y="492861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boarding_pass_no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29200" y="4453128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029200" y="4453128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120640" y="448513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6EE08A"/>
                </a:solidFill>
                <a:latin typeface="Menlo"/>
              </a:rPr>
              <a:t>BAGGAGE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20640" y="46817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baggage_id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20640" y="47640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tag_no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20640" y="484632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checkin_id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20640" y="492861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weight_kg ≥ 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20640" y="50109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bag_status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260336" y="4453128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260336" y="4453128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351776" y="448513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FF7A86"/>
                </a:solidFill>
                <a:latin typeface="Menlo"/>
              </a:rPr>
              <a:t>CANCELLATION ◆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51776" y="46817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cancellation_id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51776" y="47640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ticket_id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51776" y="484632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cancel_ts / reason_code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51776" y="492861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refund_amount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351776" y="50109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processed_by_user_id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91472" y="4453128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9491472" y="4453128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82912" y="448513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FF7A86"/>
                </a:solidFill>
                <a:latin typeface="Menlo"/>
              </a:rPr>
              <a:t>PAYMENT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82912" y="468172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payment_id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82912" y="476402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booking_id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582912" y="484632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txn_reference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582912" y="492861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amount / method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82912" y="50109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paid_ts / pay_status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66928" y="5239512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66928" y="5239512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58368" y="5271516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FF7A86"/>
                </a:solidFill>
                <a:latin typeface="Menlo"/>
              </a:rPr>
              <a:t>APP_USER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8368" y="54681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user_id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8368" y="555040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login_id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58368" y="563270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role_code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571500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full_name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58368" y="5797296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is_active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98064" y="5239512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798064" y="5239512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889504" y="5271516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B58CE0"/>
                </a:solidFill>
                <a:latin typeface="Menlo"/>
              </a:rPr>
              <a:t>ROLE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889504" y="54681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role_code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89504" y="555040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role_name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889504" y="563270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landing_section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889504" y="571500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is_system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29200" y="5239512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5029200" y="5239512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120640" y="5271516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6EE08A"/>
                </a:solidFill>
                <a:latin typeface="Menlo"/>
              </a:rPr>
              <a:t>ROLE_PERMISSION ◆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120640" y="54681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role_perm_id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120640" y="555040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role_code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20640" y="563270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8FCBFF"/>
                </a:solidFill>
                <a:latin typeface="Menlo"/>
              </a:rPr>
              <a:t>FK permission_code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120640" y="571500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B58CE0"/>
                </a:solidFill>
                <a:latin typeface="Menlo"/>
              </a:rPr>
              <a:t>AK (role, permission)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260336" y="5239512"/>
            <a:ext cx="2103120" cy="722376"/>
          </a:xfrm>
          <a:prstGeom prst="rect">
            <a:avLst/>
          </a:prstGeom>
          <a:solidFill>
            <a:srgbClr val="0C182B"/>
          </a:solidFill>
          <a:ln w="6985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7260336" y="5239512"/>
            <a:ext cx="2103120" cy="18288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351776" y="5271516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B58CE0"/>
                </a:solidFill>
                <a:latin typeface="Menlo"/>
              </a:rPr>
              <a:t>PERMISSION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51776" y="5468112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E8B44A"/>
                </a:solidFill>
                <a:latin typeface="Menlo"/>
              </a:rPr>
              <a:t>PK permission_code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351776" y="5550408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module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51776" y="5632704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action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51776" y="5715000"/>
            <a:ext cx="195681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A9BDD6"/>
                </a:solidFill>
                <a:latin typeface="Menlo"/>
              </a:rPr>
              <a:t>description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66928" y="6053328"/>
            <a:ext cx="11064240" cy="7620"/>
          </a:xfrm>
          <a:prstGeom prst="rect">
            <a:avLst/>
          </a:prstGeom>
          <a:solidFill>
            <a:srgbClr val="1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566928" y="612648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i="0">
                <a:solidFill>
                  <a:srgbClr val="E8B44A"/>
                </a:solidFill>
                <a:latin typeface="Menlo"/>
              </a:rPr>
              <a:t>EVERY RELATION IS IN 3NF — AND IN BCNF: IN EACH, EVERY DETERMINANT IS A CANDIDATE KEY.  BOOKING.total_amount AND CANCELLATION.refund_amount ARE DERIVED VALUES STORED DELIBERATELY, RECONCILED IN-TRANSACTION.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940"/>
          </a:xfrm>
          <a:prstGeom prst="rect">
            <a:avLst/>
          </a:prstGeom>
          <a:solidFill>
            <a:srgbClr val="0E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0" cy="2794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B44A"/>
                </a:solidFill>
                <a:latin typeface="Menlo"/>
              </a:rPr>
              <a:t>08 · 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E9F0FA"/>
                </a:solidFill>
                <a:latin typeface="Helvetica Neue"/>
              </a:rPr>
              <a:t>Two agents, </a:t>
            </a:r>
            <a:r>
              <a:rPr sz="3100" b="1">
                <a:solidFill>
                  <a:srgbClr val="E8B44A"/>
                </a:solidFill>
                <a:latin typeface="Helvetica Neue"/>
              </a:rPr>
              <a:t>one seat 14A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9BDD6"/>
                </a:solidFill>
                <a:latin typeface="Helvetica Neue"/>
              </a:rPr>
              <a:t>The boundary case the whole design exists to survive.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E5572"/>
                </a:solidFill>
                <a:latin typeface="Menlo"/>
              </a:rPr>
              <a:t>SKYBASE  ·  AIRLINE RESERVATION &amp; FLIGHT OPERATIONS DBMS  ·  PROJECT 18  · 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4846320" cy="292608"/>
          </a:xfrm>
          <a:prstGeom prst="rect">
            <a:avLst/>
          </a:prstGeom>
          <a:solidFill>
            <a:srgbClr val="11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04688" y="2011680"/>
            <a:ext cx="457200" cy="292608"/>
          </a:xfrm>
          <a:prstGeom prst="rect">
            <a:avLst/>
          </a:prstGeom>
          <a:solidFill>
            <a:srgbClr val="0C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53328" y="2011680"/>
            <a:ext cx="5577840" cy="292608"/>
          </a:xfrm>
          <a:prstGeom prst="rect">
            <a:avLst/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07568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CBFF"/>
                </a:solidFill>
                <a:latin typeface="Menlo"/>
              </a:rPr>
              <a:t>T1 · COUNTER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07568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088A6"/>
                </a:solidFill>
                <a:latin typeface="Menlo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07568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B44A"/>
                </a:solidFill>
                <a:latin typeface="Menlo"/>
              </a:rPr>
              <a:t>T2 · COUNTER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40864"/>
            <a:ext cx="4846320" cy="310896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2409444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8FCBFF"/>
                </a:solidFill>
                <a:latin typeface="Menlo"/>
              </a:rPr>
              <a:t>BEGIN;  SELECT … seat 14A FOR UPDATE;  → 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40944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645410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53328" y="2651760"/>
            <a:ext cx="5577840" cy="310896"/>
          </a:xfrm>
          <a:prstGeom prst="rect">
            <a:avLst/>
          </a:prstGeom>
          <a:solidFill>
            <a:srgbClr val="33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720340"/>
            <a:ext cx="5376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FF7A86"/>
                </a:solidFill>
                <a:latin typeface="Menlo"/>
              </a:rPr>
              <a:t>BEGIN;  SELECT … FOR UPDATE;   ⏳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7203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56306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2962656"/>
            <a:ext cx="4846320" cy="310896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3031236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8FCBFF"/>
                </a:solidFill>
                <a:latin typeface="Menlo"/>
              </a:rPr>
              <a:t>SELECT COUNT(*) … → 179 / 180 seats sold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962656"/>
            <a:ext cx="5577840" cy="310896"/>
          </a:xfrm>
          <a:prstGeom prst="rect">
            <a:avLst/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81344" y="3031236"/>
            <a:ext cx="5376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FFD98A"/>
                </a:solidFill>
                <a:latin typeface="Menlo"/>
              </a:rPr>
              <a:t>⏳ still waiting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303123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67202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273552"/>
            <a:ext cx="4846320" cy="310896"/>
          </a:xfrm>
          <a:prstGeom prst="rect">
            <a:avLst/>
          </a:prstGeom>
          <a:solidFill>
            <a:srgbClr val="11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3342132"/>
            <a:ext cx="4645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6EE08A"/>
                </a:solidFill>
                <a:latin typeface="Menlo"/>
              </a:rPr>
              <a:t>INSERT INTO ticket(… seat 14A …);  COMMIT;  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334213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78098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53328" y="3584448"/>
            <a:ext cx="5577840" cy="310896"/>
          </a:xfrm>
          <a:prstGeom prst="rect">
            <a:avLst/>
          </a:prstGeom>
          <a:solidFill>
            <a:srgbClr val="2A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81344" y="3653028"/>
            <a:ext cx="5376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FFD98A"/>
                </a:solidFill>
                <a:latin typeface="Menlo"/>
              </a:rPr>
              <a:t>→ resumes: 1 row (seat now taken)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36530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88994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53328" y="3895344"/>
            <a:ext cx="5577840" cy="310896"/>
          </a:xfrm>
          <a:prstGeom prst="rect">
            <a:avLst/>
          </a:prstGeom>
          <a:solidFill>
            <a:srgbClr val="33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81344" y="3963924"/>
            <a:ext cx="5376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FF7A86"/>
                </a:solidFill>
                <a:latin typeface="Menlo"/>
              </a:rPr>
              <a:t>INSERT … 14A;  ✕ duplicate key uq_ticket_flight_seat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396392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99890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053328" y="4206240"/>
            <a:ext cx="5577840" cy="310896"/>
          </a:xfrm>
          <a:prstGeom prst="rect">
            <a:avLst/>
          </a:prstGeom>
          <a:solidFill>
            <a:srgbClr val="11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81344" y="4274820"/>
            <a:ext cx="5376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i="0">
                <a:solidFill>
                  <a:srgbClr val="6EE08A"/>
                </a:solidFill>
                <a:latin typeface="Menlo"/>
              </a:rPr>
              <a:t>ROLLBACK; → offer 14C;  COMMIT;  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27482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8607E"/>
                </a:solidFill>
                <a:latin typeface="Menlo"/>
              </a:rPr>
              <a:t>t7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510786"/>
            <a:ext cx="11064240" cy="6350"/>
          </a:xfrm>
          <a:prstGeom prst="rect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4626864"/>
            <a:ext cx="11064240" cy="402336"/>
          </a:xfrm>
          <a:prstGeom prst="rect">
            <a:avLst/>
          </a:prstGeom>
          <a:solidFill>
            <a:srgbClr val="101F37"/>
          </a:solidFill>
          <a:ln w="10160">
            <a:solidFill>
              <a:srgbClr val="6E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71830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EE08A"/>
                </a:solidFill>
                <a:latin typeface="Helvetica Neue"/>
              </a:rPr>
              <a:t>Nobody is double-seated and nobody is turned away — the loser retries onto the next free seat.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193792"/>
            <a:ext cx="2633472" cy="109728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66928" y="5193792"/>
            <a:ext cx="30480" cy="109728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53218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4AA8FF"/>
                </a:solidFill>
                <a:latin typeface="Menlo"/>
              </a:rPr>
              <a:t>PESSIMISTIC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59552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SELECT … FOR UPDATE takes the row lock; T2 blocks instead of reading stale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64992" y="5193792"/>
            <a:ext cx="2633472" cy="109728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64992" y="5193792"/>
            <a:ext cx="30480" cy="109728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29584" y="53218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B44A"/>
                </a:solidFill>
                <a:latin typeface="Menlo"/>
              </a:rPr>
              <a:t>DECLARATIVE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9584" y="5559552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UNIQUE(flight_id, seat_id) is the backstop — it holds even if the lock is forgotten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3056" y="5193792"/>
            <a:ext cx="2633472" cy="109728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63056" y="5193792"/>
            <a:ext cx="30480" cy="1097280"/>
          </a:xfrm>
          <a:prstGeom prst="rect">
            <a:avLst/>
          </a:prstGeom>
          <a:solidFill>
            <a:srgbClr val="6E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27648" y="53218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EE08A"/>
                </a:solidFill>
                <a:latin typeface="Menlo"/>
              </a:rPr>
              <a:t>ISOLATION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5559552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READ COMMITTED + FOR UPDATE; SERIALIZABLE only for the capacity phantom, with retry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5193792"/>
            <a:ext cx="2633472" cy="1097280"/>
          </a:xfrm>
          <a:prstGeom prst="rect">
            <a:avLst/>
          </a:prstGeom>
          <a:solidFill>
            <a:srgbClr val="0C182B"/>
          </a:solidFill>
          <a:ln w="7620">
            <a:solidFill>
              <a:srgbClr val="1E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961120" y="5193792"/>
            <a:ext cx="30480" cy="1097280"/>
          </a:xfrm>
          <a:prstGeom prst="rect">
            <a:avLst/>
          </a:prstGeom>
          <a:solidFill>
            <a:srgbClr val="B58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25712" y="53218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8CE0"/>
                </a:solidFill>
                <a:latin typeface="Menlo"/>
              </a:rPr>
              <a:t>SCOPE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5559552"/>
            <a:ext cx="23957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9BDD6"/>
                </a:solidFill>
                <a:latin typeface="Helvetica Neue"/>
              </a:rPr>
              <a:t>Seat holds are rows with an expiry, never an open transaction waiting on a human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2740</Words>
  <Application>Microsoft Macintosh PowerPoint</Application>
  <PresentationFormat>Widescreen</PresentationFormat>
  <Paragraphs>580</Paragraphs>
  <Slides>12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Daniel</cp:lastModifiedBy>
  <cp:revision>3</cp:revision>
  <dcterms:created xsi:type="dcterms:W3CDTF">2013-01-27T09:14:16Z</dcterms:created>
  <dcterms:modified xsi:type="dcterms:W3CDTF">2026-09-02T10:04:31Z</dcterms:modified>
  <cp:category/>
</cp:coreProperties>
</file>